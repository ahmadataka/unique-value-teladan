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d7b08cde24d7a" /><Relationship Type="http://schemas.openxmlformats.org/officeDocument/2006/relationships/extended-properties" Target="/docProps/app.xml" Id="R41e5aae1ebe944bc" /><Relationship Type="http://schemas.openxmlformats.org/officeDocument/2006/relationships/officeDocument" Target="/ppt/presentation.xml" Id="Rf1fa95ac23d6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54f702b664a14"/>
  </p:sldMasterIdLst>
  <p:notesMasterIdLst>
    <p:notesMasterId xmlns:r="http://schemas.openxmlformats.org/officeDocument/2006/relationships" r:id="R560bf634a9fe431b"/>
  </p:notesMasterIdLst>
  <p:sldIdLst>
    <p:sldId xmlns:r="http://schemas.openxmlformats.org/officeDocument/2006/relationships" id="256" r:id="R67d9539f3ac643a2"/>
    <p:sldId xmlns:r="http://schemas.openxmlformats.org/officeDocument/2006/relationships" id="257" r:id="R6c89cb90ea6f4088"/>
    <p:sldId xmlns:r="http://schemas.openxmlformats.org/officeDocument/2006/relationships" id="258" r:id="R5d1bae8fd7fc4809"/>
    <p:sldId xmlns:r="http://schemas.openxmlformats.org/officeDocument/2006/relationships" id="259" r:id="Rc9bb9c88168a489b"/>
    <p:sldId xmlns:r="http://schemas.openxmlformats.org/officeDocument/2006/relationships" id="260" r:id="R7f2963cf5c4f4d52"/>
    <p:sldId xmlns:r="http://schemas.openxmlformats.org/officeDocument/2006/relationships" id="261" r:id="Rc1a3348e3b3c4c9a"/>
    <p:sldId xmlns:r="http://schemas.openxmlformats.org/officeDocument/2006/relationships" id="262" r:id="R3d542c79ef484ad3"/>
    <p:sldId xmlns:r="http://schemas.openxmlformats.org/officeDocument/2006/relationships" id="263" r:id="R442e13354a76439e"/>
    <p:sldId xmlns:r="http://schemas.openxmlformats.org/officeDocument/2006/relationships" id="264" r:id="R8cb77116f627457f"/>
    <p:sldId xmlns:r="http://schemas.openxmlformats.org/officeDocument/2006/relationships" id="265" r:id="Rd4d28a56cad74be6"/>
    <p:sldId xmlns:r="http://schemas.openxmlformats.org/officeDocument/2006/relationships" id="266" r:id="R991f8e8ba79c49ae"/>
    <p:sldId xmlns:r="http://schemas.openxmlformats.org/officeDocument/2006/relationships" id="267" r:id="R8fa766c1804545d1"/>
    <p:sldId xmlns:r="http://schemas.openxmlformats.org/officeDocument/2006/relationships" id="268" r:id="R509a961c0d8b40df"/>
    <p:sldId xmlns:r="http://schemas.openxmlformats.org/officeDocument/2006/relationships" id="269" r:id="R8ffaa020d0144010"/>
    <p:sldId xmlns:r="http://schemas.openxmlformats.org/officeDocument/2006/relationships" id="270" r:id="R2b1bc37b6de246c0"/>
    <p:sldId xmlns:r="http://schemas.openxmlformats.org/officeDocument/2006/relationships" id="271" r:id="R52e7d5fa4a614c35"/>
    <p:sldId xmlns:r="http://schemas.openxmlformats.org/officeDocument/2006/relationships" id="272" r:id="R4e7cb8b2296b4f8c"/>
    <p:sldId xmlns:r="http://schemas.openxmlformats.org/officeDocument/2006/relationships" id="273" r:id="R5c7b049314ae49ad"/>
    <p:sldId xmlns:r="http://schemas.openxmlformats.org/officeDocument/2006/relationships" id="274" r:id="R55369468eb584548"/>
    <p:sldId xmlns:r="http://schemas.openxmlformats.org/officeDocument/2006/relationships" id="275" r:id="Radcd0e36105a4f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1b5ea50e64483" /><Relationship Type="http://schemas.openxmlformats.org/officeDocument/2006/relationships/slideMaster" Target="/ppt/slideMasters/slideMaster1.xml" Id="R1ef54f702b664a14" /><Relationship Type="http://schemas.openxmlformats.org/officeDocument/2006/relationships/notesMaster" Target="/ppt/notesMasters/notesMaster1.xml" Id="R560bf634a9fe431b" /><Relationship Type="http://schemas.openxmlformats.org/officeDocument/2006/relationships/presProps" Target="/ppt/presProps.xml" Id="R7e16c40a66884887" /><Relationship Type="http://schemas.openxmlformats.org/officeDocument/2006/relationships/tableStyles" Target="/ppt/tableStyles.xml" Id="Rf4c533da049c4532" /><Relationship Type="http://schemas.openxmlformats.org/officeDocument/2006/relationships/slide" Target="/ppt/slides/slide1.xml" Id="R67d9539f3ac643a2" /><Relationship Type="http://schemas.openxmlformats.org/officeDocument/2006/relationships/slide" Target="/ppt/slides/slide2.xml" Id="R6c89cb90ea6f4088" /><Relationship Type="http://schemas.openxmlformats.org/officeDocument/2006/relationships/slide" Target="/ppt/slides/slide3.xml" Id="R5d1bae8fd7fc4809" /><Relationship Type="http://schemas.openxmlformats.org/officeDocument/2006/relationships/slide" Target="/ppt/slides/slide4.xml" Id="Rc9bb9c88168a489b" /><Relationship Type="http://schemas.openxmlformats.org/officeDocument/2006/relationships/slide" Target="/ppt/slides/slide5.xml" Id="R7f2963cf5c4f4d52" /><Relationship Type="http://schemas.openxmlformats.org/officeDocument/2006/relationships/slide" Target="/ppt/slides/slide6.xml" Id="Rc1a3348e3b3c4c9a" /><Relationship Type="http://schemas.openxmlformats.org/officeDocument/2006/relationships/slide" Target="/ppt/slides/slide7.xml" Id="R3d542c79ef484ad3" /><Relationship Type="http://schemas.openxmlformats.org/officeDocument/2006/relationships/slide" Target="/ppt/slides/slide8.xml" Id="R442e13354a76439e" /><Relationship Type="http://schemas.openxmlformats.org/officeDocument/2006/relationships/slide" Target="/ppt/slides/slide9.xml" Id="R8cb77116f627457f" /><Relationship Type="http://schemas.openxmlformats.org/officeDocument/2006/relationships/slide" Target="/ppt/slides/slide10.xml" Id="Rd4d28a56cad74be6" /><Relationship Type="http://schemas.openxmlformats.org/officeDocument/2006/relationships/slide" Target="/ppt/slides/slide11.xml" Id="R991f8e8ba79c49ae" /><Relationship Type="http://schemas.openxmlformats.org/officeDocument/2006/relationships/slide" Target="/ppt/slides/slide12.xml" Id="R8fa766c1804545d1" /><Relationship Type="http://schemas.openxmlformats.org/officeDocument/2006/relationships/slide" Target="/ppt/slides/slide13.xml" Id="R509a961c0d8b40df" /><Relationship Type="http://schemas.openxmlformats.org/officeDocument/2006/relationships/slide" Target="/ppt/slides/slide14.xml" Id="R8ffaa020d0144010" /><Relationship Type="http://schemas.openxmlformats.org/officeDocument/2006/relationships/slide" Target="/ppt/slides/slide15.xml" Id="R2b1bc37b6de246c0" /><Relationship Type="http://schemas.openxmlformats.org/officeDocument/2006/relationships/slide" Target="/ppt/slides/slide16.xml" Id="R52e7d5fa4a614c35" /><Relationship Type="http://schemas.openxmlformats.org/officeDocument/2006/relationships/slide" Target="/ppt/slides/slide17.xml" Id="R4e7cb8b2296b4f8c" /><Relationship Type="http://schemas.openxmlformats.org/officeDocument/2006/relationships/slide" Target="/ppt/slides/slide18.xml" Id="R5c7b049314ae49ad" /><Relationship Type="http://schemas.openxmlformats.org/officeDocument/2006/relationships/slide" Target="/ppt/slides/slide19.xml" Id="R55369468eb584548" /><Relationship Type="http://schemas.openxmlformats.org/officeDocument/2006/relationships/slide" Target="/ppt/slides/slide20.xml" Id="Radcd0e36105a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095c3b017b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61b1819074183" /><Relationship Type="http://schemas.openxmlformats.org/officeDocument/2006/relationships/notesMaster" Target="/ppt/notesMasters/notesMaster1.xml" Id="R1f02f0bbfbd94c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384d3d2c214905" /><Relationship Type="http://schemas.openxmlformats.org/officeDocument/2006/relationships/notesMaster" Target="/ppt/notesMasters/notesMaster1.xml" Id="R1d0f00dd265349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23a05146044b4" /><Relationship Type="http://schemas.openxmlformats.org/officeDocument/2006/relationships/notesMaster" Target="/ppt/notesMasters/notesMaster1.xml" Id="Re17c283cf6ca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bcd3fb27ea42e3" /><Relationship Type="http://schemas.openxmlformats.org/officeDocument/2006/relationships/notesMaster" Target="/ppt/notesMasters/notesMaster1.xml" Id="Rd8fe61d4947a48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5e9e818c84770" /><Relationship Type="http://schemas.openxmlformats.org/officeDocument/2006/relationships/notesMaster" Target="/ppt/notesMasters/notesMaster1.xml" Id="R8db45a64c75843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fa922ac9324c2f" /><Relationship Type="http://schemas.openxmlformats.org/officeDocument/2006/relationships/notesMaster" Target="/ppt/notesMasters/notesMaster1.xml" Id="Rd34ea37781b746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811b516db34ff2" /><Relationship Type="http://schemas.openxmlformats.org/officeDocument/2006/relationships/notesMaster" Target="/ppt/notesMasters/notesMaster1.xml" Id="Rb895fa71a6e247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b2a4f6b7324447" /><Relationship Type="http://schemas.openxmlformats.org/officeDocument/2006/relationships/notesMaster" Target="/ppt/notesMasters/notesMaster1.xml" Id="Rff4da05a3f0b41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cc6e4922cb4ce9" /><Relationship Type="http://schemas.openxmlformats.org/officeDocument/2006/relationships/notesMaster" Target="/ppt/notesMasters/notesMaster1.xml" Id="Rd480593f2edc42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f2d048f9234017" /><Relationship Type="http://schemas.openxmlformats.org/officeDocument/2006/relationships/notesMaster" Target="/ppt/notesMasters/notesMaster1.xml" Id="R12d862a65fa840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43956e15f5414a" /><Relationship Type="http://schemas.openxmlformats.org/officeDocument/2006/relationships/notesMaster" Target="/ppt/notesMasters/notesMaster1.xml" Id="R5c6e2d30ab8846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eb72b4bd054a67" /><Relationship Type="http://schemas.openxmlformats.org/officeDocument/2006/relationships/notesMaster" Target="/ppt/notesMasters/notesMaster1.xml" Id="R832b33e5582147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3f298c1a0449be" /><Relationship Type="http://schemas.openxmlformats.org/officeDocument/2006/relationships/notesMaster" Target="/ppt/notesMasters/notesMaster1.xml" Id="Ra3cf828e7b5c43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014c153711454a" /><Relationship Type="http://schemas.openxmlformats.org/officeDocument/2006/relationships/notesMaster" Target="/ppt/notesMasters/notesMaster1.xml" Id="R8ae6c9f32fbf45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286fbf451c4f4b" /><Relationship Type="http://schemas.openxmlformats.org/officeDocument/2006/relationships/notesMaster" Target="/ppt/notesMasters/notesMaster1.xml" Id="R1d2f0e09bc2c46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d993f62e94421e" /><Relationship Type="http://schemas.openxmlformats.org/officeDocument/2006/relationships/notesMaster" Target="/ppt/notesMasters/notesMaster1.xml" Id="R3fdcad1527bb49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fafcafb2a84e99" /><Relationship Type="http://schemas.openxmlformats.org/officeDocument/2006/relationships/notesMaster" Target="/ppt/notesMasters/notesMaster1.xml" Id="Rbb3f91fae1dc40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6e7c3cfc604f24" /><Relationship Type="http://schemas.openxmlformats.org/officeDocument/2006/relationships/notesMaster" Target="/ppt/notesMasters/notesMaster1.xml" Id="R0c82f0ad3d3445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5d1b6928694ae9" /><Relationship Type="http://schemas.openxmlformats.org/officeDocument/2006/relationships/notesMaster" Target="/ppt/notesMasters/notesMaster1.xml" Id="R3db55132ce2b4d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32ff7f2cac4214" /><Relationship Type="http://schemas.openxmlformats.org/officeDocument/2006/relationships/notesMaster" Target="/ppt/notesMasters/notesMaster1.xml" Id="R40a91a2b26e64b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  <a:p xmlns:a="http://schemas.openxmlformats.org/drawingml/2006/main">
            <a:r>
              <a:t>https://repositori.kemendikdasmen.go.id/36363/</a:t>
            </a:r>
          </a:p>
          <a:p xmlns:a="http://schemas.openxmlformats.org/drawingml/2006/main">
            <a:r>
              <a:t>https://pusatprestasinasional.kemendikdasmen.go.id/event/riset-dan-inovasi/sma/festival-inovasi-dan-kewirausahaan-siswa-nasional-2026-2026-sma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https://repositori.kemendikdasmen.go.id/36363/</a:t>
            </a:r>
          </a:p>
          <a:p xmlns:a="http://schemas.openxmlformats.org/drawingml/2006/main">
            <a:r>
              <a:t>https://pusatprestasinasional.kemendikdasmen.go.id/event/riset-dan-inovasi/sma/festival-inovasi-dan-kewirausahaan-siswa-nasional-2026-2026-sma</a:t>
            </a:r>
          </a:p>
          <a:p xmlns:a="http://schemas.openxmlformats.org/drawingml/2006/main">
            <a:r>
              <a:t>/Users/ahmadataka/Downloads/Slide Sosialisasi FIKSI SMA_MA_SMK_MAK_Sederajat 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https://repositori.kemendikdasmen.go.id/36363/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/Users/ahmadataka/Downloads/Panduan Menulis Proposal OPSI.pdf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/Users/ahmadataka/Downloads/Slide Sosialisasi FIKSI SMA_MA_SMK_MAK_Sederajat 2026.pdf</a:t>
            </a:r>
          </a:p>
          <a:p xmlns:a="http://schemas.openxmlformats.org/drawingml/2006/main">
            <a:r>
              <a:t>https://pusatprestasinasional.kemendikdasmen.go.id/event/riset-dan-inovasi/sma/festival-inovasi-dan-kewirausahaan-siswa-nasional-2026-2026-sma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/Users/ahmadataka/Downloads/Slide Sosialisasi FIKSI SMA_MA_SMK_MAK_Sederajat 2026.pdf halaman 6</a:t>
            </a:r>
          </a:p>
          <a:p xmlns:a="http://schemas.openxmlformats.org/drawingml/2006/main">
            <a:r>
              <a:t>https://pusatprestasinasional.kemendikdasmen.go.id/event/riset-dan-inovasi/sma/festival-inovasi-dan-kewirausahaan-siswa-nasional-2026-2026-sma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/Users/ahmadataka/Downloads/Contoh Ringkasan Eksekutif FIKSI_SHI Team_2025.pdf halaman 1–7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/Users/ahmadataka/Downloads/Slide Sosialisasi FIKSI SMA_MA_SMK_MAK_Sederajat 2026.pdf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  <a:p xmlns:a="http://schemas.openxmlformats.org/drawingml/2006/main">
            <a:r>
              <a:t>Angka pada slide ini adalah simulasi pembelajaran.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  <a:p xmlns:a="http://schemas.openxmlformats.org/drawingml/2006/main">
            <a:r>
              <a:t>/Users/ahmadataka/Downloads/Panduan Menulis Proposal OPSI.pdf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  <a:p xmlns:a="http://schemas.openxmlformats.org/drawingml/2006/main">
            <a:r>
              <a:t>/Users/ahmadataka/Downloads/Slide Sosialisasi FIKSI SMA_MA_SMK_MAK_Sederajat 2026.pdf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  <a:p xmlns:a="http://schemas.openxmlformats.org/drawingml/2006/main">
            <a:r>
              <a:t>/Users/ahmadataka/Downloads/Panduan Menulis Proposal OPSI.pdf</a:t>
            </a:r>
          </a:p>
          <a:p xmlns:a="http://schemas.openxmlformats.org/drawingml/2006/main">
            <a:r>
              <a:t>https://repositori.kemendikdasmen.go.id/36363/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  <a:p xmlns:a="http://schemas.openxmlformats.org/drawingml/2006/main">
            <a:r>
              <a:t>/Users/ahmadataka/Downloads/Slide Sosialisasi FIKSI SMA_MA_SMK_MAK_Sederajat 2026.pdf</a:t>
            </a:r>
          </a:p>
          <a:p xmlns:a="http://schemas.openxmlformats.org/drawingml/2006/main">
            <a:r>
              <a:t>/Users/ahmadataka/Downloads/Panduan Menulis Proposal OPSI.pdf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/Users/ahmadataka/Documents/Codex project/SMA Teladan/unique-value-teladan/pdf/materi-kelas-x-proposal-mini-riset-dan-inovasi.pdf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</a:t>
            </a:r>
          </a:p>
          <a:p xmlns:a="http://schemas.openxmlformats.org/drawingml/2006/main">
            <a:r>
              <a:t>https://repositori.kemendikdasmen.go.id/36363/</a:t>
            </a:r>
          </a:p>
          <a:p xmlns:a="http://schemas.openxmlformats.org/drawingml/2006/main">
            <a:r>
              <a:t>https://pusatprestasinasional.kemendikdasmen.go.id/event/riset-dan-inovasi/sma/festival-inovasi-dan-kewirausahaan-siswa-nasional-2026-2026-sma</a:t>
            </a:r>
          </a:p>
          <a:p xmlns:a="http://schemas.openxmlformats.org/drawingml/2006/main">
            <a:r>
              <a:t>/Users/ahmadataka/Downloads/Outline_Pematangan_Ide_OPSI_dan_FIKSI_2026.docx</a:t>
            </a:r>
          </a:p>
          <a:p xmlns:a="http://schemas.openxmlformats.org/drawingml/2006/main">
            <a:r>
              <a:t>/Users/ahmadataka/Downloads/Panduan Menulis Proposal OPSI.pdf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07107fc6b4e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cc32839c441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1d34ad9eb43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9e39a35304f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45bf6386d48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edccde9c143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56CED-3C85-4D08-ACA0-7614DF91B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BCCC6A-E299-40DE-BAA1-93E097F92C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827CFB-A1E3-48ED-8B87-FD8AAD896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D87F94-46B4-42DF-A23F-BFACEC213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2F3CAB-5B1F-46B3-9A55-7CD58B7C1D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32D3C3-1AED-439C-9F15-C7FB47679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79D670-CDE1-4909-9457-BC060D991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ADA18D-99D0-4259-9F8E-9EAFDBFBD3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7A24A0-C4F8-4871-8500-CA1E613EC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13E9A2-3473-4C27-9550-92E5B96A43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634248d6dc488b" /><Relationship Type="http://schemas.openxmlformats.org/officeDocument/2006/relationships/slideLayout" Target="/ppt/slideLayouts/slideLayout1.xml" Id="R36f895bee1f843cd" /><Relationship Type="http://schemas.openxmlformats.org/officeDocument/2006/relationships/slideLayout" Target="/ppt/slideLayouts/slideLayout2.xml" Id="R4b1e0cceb6d44698" /><Relationship Type="http://schemas.openxmlformats.org/officeDocument/2006/relationships/slideLayout" Target="/ppt/slideLayouts/slideLayout3.xml" Id="Rb3d7a15e74114d89" /><Relationship Type="http://schemas.openxmlformats.org/officeDocument/2006/relationships/slideLayout" Target="/ppt/slideLayouts/slideLayout4.xml" Id="R37cdd43da9994ba0" /><Relationship Type="http://schemas.openxmlformats.org/officeDocument/2006/relationships/slideLayout" Target="/ppt/slideLayouts/slideLayout5.xml" Id="R7dbe9e93d9104f11" /><Relationship Type="http://schemas.openxmlformats.org/officeDocument/2006/relationships/slideLayout" Target="/ppt/slideLayouts/slideLayout6.xml" Id="R837b3d753a2240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895bee1f843cd"/>
    <p:sldLayoutId xmlns:r="http://schemas.openxmlformats.org/officeDocument/2006/relationships" id="2147483650" r:id="R4b1e0cceb6d44698"/>
    <p:sldLayoutId xmlns:r="http://schemas.openxmlformats.org/officeDocument/2006/relationships" id="2147483651" r:id="Rb3d7a15e74114d89"/>
    <p:sldLayoutId xmlns:r="http://schemas.openxmlformats.org/officeDocument/2006/relationships" id="2147483652" r:id="R37cdd43da9994ba0"/>
    <p:sldLayoutId xmlns:r="http://schemas.openxmlformats.org/officeDocument/2006/relationships" id="2147483653" r:id="R7dbe9e93d9104f11"/>
    <p:sldLayoutId xmlns:r="http://schemas.openxmlformats.org/officeDocument/2006/relationships" id="2147483654" r:id="R837b3d753a2240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762ccb2eb4dde" /><Relationship Type="http://schemas.openxmlformats.org/officeDocument/2006/relationships/image" Target="/ppt/media/image.png" Id="Radb769110bb34066" /><Relationship Type="http://schemas.openxmlformats.org/officeDocument/2006/relationships/notesSlide" Target="/ppt/notesSlides/notesSlide1.xml" Id="Rd75a2928cb48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cd5820abc444f" /><Relationship Type="http://schemas.openxmlformats.org/officeDocument/2006/relationships/image" Target="/ppt/media/image2.png" Id="R6a0431d715134fe9" /><Relationship Type="http://schemas.openxmlformats.org/officeDocument/2006/relationships/notesSlide" Target="/ppt/notesSlides/notesSlide2.xml" Id="Ra856a4e0dbb4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0eba9b8ff49af" /><Relationship Type="http://schemas.openxmlformats.org/officeDocument/2006/relationships/image" Target="/ppt/media/image3.png" Id="R45bc1ad62ccb4948" /><Relationship Type="http://schemas.openxmlformats.org/officeDocument/2006/relationships/notesSlide" Target="/ppt/notesSlides/notesSlide3.xml" Id="R3292444e12a643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cf04ab11b47fc" /><Relationship Type="http://schemas.openxmlformats.org/officeDocument/2006/relationships/image" Target="/ppt/media/image4.png" Id="R52f3729e8344447c" /><Relationship Type="http://schemas.openxmlformats.org/officeDocument/2006/relationships/notesSlide" Target="/ppt/notesSlides/notesSlide4.xml" Id="R81eda78507954d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44269ff744d81" /><Relationship Type="http://schemas.openxmlformats.org/officeDocument/2006/relationships/image" Target="/ppt/media/image5.png" Id="R260195ab73d44230" /><Relationship Type="http://schemas.openxmlformats.org/officeDocument/2006/relationships/notesSlide" Target="/ppt/notesSlides/notesSlide5.xml" Id="R71534cad8f98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4e6ea2c0c4c87" /><Relationship Type="http://schemas.openxmlformats.org/officeDocument/2006/relationships/image" Target="/ppt/media/image6.png" Id="R0891d4248cdb40bf" /><Relationship Type="http://schemas.openxmlformats.org/officeDocument/2006/relationships/notesSlide" Target="/ppt/notesSlides/notesSlide6.xml" Id="Rd3a51864205145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95edb32e44a37" /><Relationship Type="http://schemas.openxmlformats.org/officeDocument/2006/relationships/image" Target="/ppt/media/image7.png" Id="R5ef1a8fb63a74c54" /><Relationship Type="http://schemas.openxmlformats.org/officeDocument/2006/relationships/notesSlide" Target="/ppt/notesSlides/notesSlide7.xml" Id="R81d0e22b31bb4d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329aac78641df" /><Relationship Type="http://schemas.openxmlformats.org/officeDocument/2006/relationships/image" Target="/ppt/media/image8.png" Id="R72bca29c91ab40dc" /><Relationship Type="http://schemas.openxmlformats.org/officeDocument/2006/relationships/image" Target="/ppt/media/image9.png" Id="R11d8852df8174d24" /><Relationship Type="http://schemas.openxmlformats.org/officeDocument/2006/relationships/notesSlide" Target="/ppt/notesSlides/notesSlide8.xml" Id="R772894db38944a53" /></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f3adc4b7a334a90" /><ns0:Relationship Type="http://schemas.openxmlformats.org/officeDocument/2006/relationships/image" Target="/ppt/media/image10.png" Id="Rcad579f5b5ff42f9" /><ns0:Relationship Type="http://schemas.openxmlformats.org/officeDocument/2006/relationships/image" Target="/ppt/media/image11.png" Id="R7f0370a32e044021" /><ns0:Relationship Type="http://schemas.openxmlformats.org/officeDocument/2006/relationships/notesSlide" Target="/ppt/notesSlides/notesSlide9.xml" Id="R7b764b9b02654bde" /><ns0:Relationship Id="rIdLink1" Type="http://schemas.openxmlformats.org/officeDocument/2006/relationships/hyperlink" Target="https://sciencehunter.id/" TargetMode="External" /><ns0:Relationship Id="rIdLink2" Type="http://schemas.openxmlformats.org/officeDocument/2006/relationships/hyperlink" Target="https://youtu.be/wxOXiv3dolU" TargetMode="External" /></ns0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1035522ee4d95" /><Relationship Type="http://schemas.openxmlformats.org/officeDocument/2006/relationships/image" Target="/ppt/media/image12.png" Id="Rda229491ace24b50" /><Relationship Type="http://schemas.openxmlformats.org/officeDocument/2006/relationships/notesSlide" Target="/ppt/notesSlides/notesSlide10.xml" Id="Re371fd356d2944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324338b684565" /><Relationship Type="http://schemas.openxmlformats.org/officeDocument/2006/relationships/image" Target="/ppt/media/image13.png" Id="Ra6a2bdc4fa53416e" /><Relationship Type="http://schemas.openxmlformats.org/officeDocument/2006/relationships/notesSlide" Target="/ppt/notesSlides/notesSlide11.xml" Id="R2da914765e4e49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a619b19f245b6" /><Relationship Type="http://schemas.openxmlformats.org/officeDocument/2006/relationships/image" Target="/ppt/media/image14.png" Id="R02f2075f4fb74725" /><Relationship Type="http://schemas.openxmlformats.org/officeDocument/2006/relationships/notesSlide" Target="/ppt/notesSlides/notesSlide12.xml" Id="R868d35c944534c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613355e084e5d" /><Relationship Type="http://schemas.openxmlformats.org/officeDocument/2006/relationships/image" Target="/ppt/media/image15.png" Id="R5bbe3fd4f2e84524" /><Relationship Type="http://schemas.openxmlformats.org/officeDocument/2006/relationships/notesSlide" Target="/ppt/notesSlides/notesSlide13.xml" Id="R72e4cdf8197740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56a89fdcc4b2e" /><Relationship Type="http://schemas.openxmlformats.org/officeDocument/2006/relationships/image" Target="/ppt/media/image16.png" Id="R182231d963b64772" /><Relationship Type="http://schemas.openxmlformats.org/officeDocument/2006/relationships/notesSlide" Target="/ppt/notesSlides/notesSlide14.xml" Id="Rf06699c0957744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0278c5fca470d" /><Relationship Type="http://schemas.openxmlformats.org/officeDocument/2006/relationships/image" Target="/ppt/media/image17.png" Id="R6e1abfac0de84ea7" /><Relationship Type="http://schemas.openxmlformats.org/officeDocument/2006/relationships/notesSlide" Target="/ppt/notesSlides/notesSlide15.xml" Id="Rdc245149314a45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4354b34994433" /><Relationship Type="http://schemas.openxmlformats.org/officeDocument/2006/relationships/image" Target="/ppt/media/image18.png" Id="R4e19ea71f2284256" /><Relationship Type="http://schemas.openxmlformats.org/officeDocument/2006/relationships/notesSlide" Target="/ppt/notesSlides/notesSlide16.xml" Id="R63393ddd50fc45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e657941c5445b" /><Relationship Type="http://schemas.openxmlformats.org/officeDocument/2006/relationships/image" Target="/ppt/media/image19.png" Id="R6da08365888f4709" /><Relationship Type="http://schemas.openxmlformats.org/officeDocument/2006/relationships/notesSlide" Target="/ppt/notesSlides/notesSlide17.xml" Id="Ra22baea91d3a4a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df6a2fd1e44ca" /><Relationship Type="http://schemas.openxmlformats.org/officeDocument/2006/relationships/image" Target="/ppt/media/image20.png" Id="Rced396580a364e6d" /><Relationship Type="http://schemas.openxmlformats.org/officeDocument/2006/relationships/notesSlide" Target="/ppt/notesSlides/notesSlide18.xml" Id="Rffe4dfcb16204592" /></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31f55886c0e453f" /><ns0:Relationship Type="http://schemas.openxmlformats.org/officeDocument/2006/relationships/image" Target="/ppt/media/image21.png" Id="R03bfe6f8fffa49be" /><ns0:Relationship Type="http://schemas.openxmlformats.org/officeDocument/2006/relationships/notesSlide" Target="/ppt/notesSlides/notesSlide19.xml" Id="Rc4f4a5ad0e72439e" /><ns0:Relationship Id="rIdLink1" Type="http://schemas.openxmlformats.org/officeDocument/2006/relationships/hyperlink" Target="mailto:ataka.ahmad@gmail.com" TargetMode="External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3efc19a51534adf" /><ns0:Relationship Type="http://schemas.openxmlformats.org/officeDocument/2006/relationships/image" Target="/ppt/media/image22.png" Id="R7469db9320a243a5" /><ns0:Relationship Type="http://schemas.openxmlformats.org/officeDocument/2006/relationships/notesSlide" Target="/ppt/notesSlides/notesSlide20.xml" Id="Rc7765b26d7ed483b" /><ns0:Relationship Id="rIdLink1" Type="http://schemas.openxmlformats.org/officeDocument/2006/relationships/hyperlink" Target="https://repositori.kemendikdasmen.go.id/36363/" TargetMode="External" /><ns0:Relationship Id="rIdLink2" Type="http://schemas.openxmlformats.org/officeDocument/2006/relationships/hyperlink" Target="https://pusatprestasinasional.kemendikdasmen.go.id/event/riset-dan-inovasi/sma/festival-inovasi-dan-kewirausahaan-siswa-nasional-2026-2026-sma" TargetMode="External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69067-527D-4DC1-BF9F-8B4DDB82DB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769110bb34066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D8147-7CBB-4B47-B51E-2FFD9B6E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EA407-C259-48A6-8A02-BE5EE5B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OPSI dan FIKSI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4DD5-95DB-4620-A01A-324AF0FB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2EBA8-2CB9-482B-B404-E3BFB593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2A037-51D1-4639-9B0C-7193B996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E7A9D-6970-439F-A6EE-1E8800B0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287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6324F"/>
                </a:solidFill>
              </a:defRPr>
            </a:pPr>
            <a:r>
              <a:rPr sz="3900" b="1">
                <a:solidFill>
                  <a:srgbClr val="16324F"/>
                </a:solidFill>
              </a:rPr>
              <a:t>Proposal kalian</a:t>
            </a:r>
          </a:p>
          <a:p xmlns:a="http://schemas.openxmlformats.org/drawingml/2006/main">
            <a:pPr algn="l">
              <a:defRPr sz="3900" b="1">
                <a:solidFill>
                  <a:srgbClr val="16324F"/>
                </a:solidFill>
              </a:defRPr>
            </a:pPr>
            <a:r>
              <a:rPr sz="3900" b="1">
                <a:solidFill>
                  <a:srgbClr val="16324F"/>
                </a:solidFill>
              </a:rPr>
              <a:t>siap dikembangkan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AB3B7-1DC6-4469-97F8-72313E4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F2933"/>
                </a:solidFill>
              </a:defRPr>
            </a:pPr>
            <a:r>
              <a:rPr sz="2175" b="0">
                <a:solidFill>
                  <a:srgbClr val="1F2933"/>
                </a:solidFill>
              </a:rPr>
              <a:t>Penelitian yang menjawab pertanyaan</a:t>
            </a:r>
          </a:p>
          <a:p xmlns:a="http://schemas.openxmlformats.org/drawingml/2006/main">
            <a:pPr algn="l">
              <a:defRPr sz="2175" b="0">
                <a:solidFill>
                  <a:srgbClr val="1F2933"/>
                </a:solidFill>
              </a:defRPr>
            </a:pPr>
            <a:r>
              <a:rPr sz="2175" b="0">
                <a:solidFill>
                  <a:srgbClr val="1F2933"/>
                </a:solidFill>
              </a:rPr>
              <a:t>Inovasi yang memberi manfaat dan memiliki peluang usaha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EA918-B380-49DA-86C7-735CC032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B5CB8-6778-4233-8C97-8AF94E9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Hari ini kita mempertajam ide dari tugas Proposal Mini Riset dan Inovasi.</a:t>
            </a:r>
          </a:p>
        </p:txBody>
      </p:sp>
    </p:spTree>
    <p:extLst>
      <p:ext uri="{BB962C8B-B14F-4D97-AF65-F5344CB8AC3E}">
        <p14:creationId xmlns:p14="http://schemas.microsoft.com/office/powerpoint/2010/main" val="1438814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9F521-F8CA-4013-8378-E046546C8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431d715134fe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63AB3-80FD-45A4-BB87-3B59B071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BF950-5FB3-4BF4-98DB-D15C5433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Proposal terakhir sebagai titik awal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06089-B0D8-4D4E-9928-6291CBFA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067EB-7BBA-4530-A1DF-1847113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30929-84C7-41BC-9A9A-F05508A9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C4B18-0177-4C46-8E3E-AC1AEF88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Buka kembali judul, masalah, bukti awal, dan pilihan jalur kelompok kalian.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8A823-3638-48C4-9DEA-E0DF4123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Bagian mana yang masih berupa dugaan? Tandai klaim yang perlu bukti.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51C98-1F44-4E61-8E8B-8E3A516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Apa masukan yang sudah diterima? Catat perubahan yang akan dibuat.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2A91C-2B03-41EF-8A4E-4C6E0496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Kalian akan menyusun proposal versi 2 dari ide yang sama.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4992D-E415-4EFC-B3F3-A6FDD560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7BEE6-F3F1-465A-8E83-F657CD50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Perubahan arah boleh dilakukan jika kalian menjelaskan bukti atau alasannya.</a:t>
            </a:r>
          </a:p>
        </p:txBody>
      </p:sp>
    </p:spTree>
    <p:extLst>
      <p:ext uri="{BB962C8B-B14F-4D97-AF65-F5344CB8AC3E}">
        <p14:creationId xmlns:p14="http://schemas.microsoft.com/office/powerpoint/2010/main" val="1426518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7E950-E849-4651-A0BA-BA86C6AC7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c1ad62ccb4948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324A0-4239-4451-9AAB-021F66BB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B8ABB-96C9-44EE-AD60-7213586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Penelitian dan kewirausahaan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F0F58-E967-4275-99CE-66ABA7A7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1B136-A83C-40B8-BF80-A7606D6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F4B91-E6BE-4D3D-87C3-EB5F5BAA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8FD69-D2AC-47C9-878B-B6CA6E92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OPSI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98255-FDAD-40AD-B697-EB41090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FIKSI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3EF3C-A1FC-41FF-93B0-F0D53C8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Olimpiade Penelitian Siswa Indonesia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7E7A6-42D2-4F19-A7F2-3FD5D83F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Pertanyaan utama: apa yang ingin kita ketahui atau buktikan?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7CE6D-3823-4213-9E91-1B4CD03C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Bukti: data, metode, analisis, dan keterbatasan.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4726A-8F13-451A-B495-91DF9F4A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Festival Inovasi dan Kewirausahaan Siswa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935B2-3B9C-4327-8D6A-7226552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Pertanyaan utama: siapa membutuhkan solusi ini dan bagaimana usahanya berjalan?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5EC7B-66B9-4076-8612-64DFCAAF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Bukti: kebutuhan pelanggan, prototype, biaya, dan model usaha.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11064-D384-4AF8-803A-F2F783CA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37D1B-FC67-4C3A-BBD8-CEDC3ED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Alat teknologi bisa menjadi penelitian OPSI maupun produk FIKSI. Fokus buktinya berbeda.</a:t>
            </a:r>
          </a:p>
        </p:txBody>
      </p:sp>
    </p:spTree>
    <p:extLst>
      <p:ext uri="{BB962C8B-B14F-4D97-AF65-F5344CB8AC3E}">
        <p14:creationId xmlns:p14="http://schemas.microsoft.com/office/powerpoint/2010/main" val="1089799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5045C-ECFE-484C-99E3-B174A48DA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3729e8344447c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AA136-FCAE-4CE9-B51C-9FC1EA9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764D0-5140-426B-920E-DF667D2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OPSI: ide yang dapat diteliti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9F601-66A1-46C1-A3D0-8D581F87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ACEFE-8448-4B7F-A358-F092234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274E2-13AE-4511-BCB9-3A47ED54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3E6CA-1743-4E47-A1C3-BAD29421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Kalian dapat mengkaji fenomena alam, perilaku sosial, atau sistem teknologi.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67467-B48F-43A5-8272-52AAF3DB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Pertanyaan harus cukup spesifik untuk dijawab dengan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F2E6B-B463-4CEA-9739-219A284D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Metode menjelaskan siapa atau apa yang diamati, caranya, dan analisisnya.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CA8A0-91DF-4B54-9D40-EE9A4CD2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Hasil penelitian boleh berbeda dari dugaan awal. Laporkan dengan jujur.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21B39-54AC-46FA-B24A-7AF8FB6F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62F49-9213-49AC-8BEC-74AC1A47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Untuk penelitian rekayasa, keberhasilan alat perlu ukuran dan pembanding yang jelas.</a:t>
            </a:r>
          </a:p>
        </p:txBody>
      </p:sp>
    </p:spTree>
    <p:extLst>
      <p:ext uri="{BB962C8B-B14F-4D97-AF65-F5344CB8AC3E}">
        <p14:creationId xmlns:p14="http://schemas.microsoft.com/office/powerpoint/2010/main" val="461640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2AA76-CE11-448A-9A95-F7CF27479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195ab73d44230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00939-7376-47F5-8FB2-43DF5D74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28D9C-BB14-4194-84AC-78C8F29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OPSI: rekomendasi video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46E49-9B67-41EF-B6D7-0D74D046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F80CF-2400-486D-8649-D2ACBF0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B1491-D4BB-41E5-9F3E-7E6B30A8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167E2-B695-4CA6-A4F9-8CE02499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191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Hubungan rekomendasi video dengan</a:t>
            </a:r>
          </a:p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keberagaman sumber belajar siswa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32D35-D4C8-4EF9-8D65-15BFA580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019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Pertanyaan: apakah penggunaan rekomendasi berkaitan dengan jumlah jenis sumber belajar?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23964-FD98-4E6A-A4B7-233FAB20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1019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Data: diary sukarela, kategori sumber, dan wawancara tanpa membuka akun pribadi.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FBFA3-FB22-4A28-9519-F8024D5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10191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Analisis: bandingkan pola dan jelaskan faktor lain yang mungkin berpengaruh.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C70CB-E9AA-437A-888F-A2F850A4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BDB48-D63D-436C-8083-829A9B75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Contoh ide kelas. Hubungan antarvariabel belum membuktikan sebab dan akibat.</a:t>
            </a:r>
          </a:p>
        </p:txBody>
      </p:sp>
    </p:spTree>
    <p:extLst>
      <p:ext uri="{BB962C8B-B14F-4D97-AF65-F5344CB8AC3E}">
        <p14:creationId xmlns:p14="http://schemas.microsoft.com/office/powerpoint/2010/main" val="1650211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B5716-71F1-406E-9CC7-E5350AC90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1d4248cdb40bf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B054A-608D-4382-BDCD-806120C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0B64B-9B6D-4EA6-B8DF-8681F96A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Metode yang cukup jelas untuk dilakukan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EAFD7-E02F-4555-A197-BF549462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F7A8-6D7C-4D23-9230-129181B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E0C59-862F-4A4F-AABC-B520974F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F1B2A-14C2-4773-A3DA-D0FC0D1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Objek atau partisipan: siapa atau apa yang akan kalian amati?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2CAF6-9FC1-4C65-B67A-1FDCFB82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Instrumen: tabel observasi, kuesioner, wawancara, atau alat ukur.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8859E-879C-45A9-A1E1-2E4B8325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Prosedur: langkah kerja, kondisi pembanding, dan cara mencatat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87243-A10F-421D-862F-355FF0D2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Analisis: cara menjawab pertanyaan menggunakan data yang terkumpul.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DEA2D-A9D9-4971-A8D1-23005FAC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9484-8A26-4351-881A-49A42E5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Tuliskan keterbatasan. Jangan memakai kata “pengaruh” jika desain hanya mengamati hubungan.</a:t>
            </a:r>
          </a:p>
        </p:txBody>
      </p:sp>
    </p:spTree>
    <p:extLst>
      <p:ext uri="{BB962C8B-B14F-4D97-AF65-F5344CB8AC3E}">
        <p14:creationId xmlns:p14="http://schemas.microsoft.com/office/powerpoint/2010/main" val="1442553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49B50-BA80-4302-BC07-B179C9428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1a8fb63a74c54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CB656-469B-4E7E-8E62-BD2E43F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1D894-7555-412C-86F9-3662B46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FIKSI: inovasi yang memiliki peluang usaha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F5A7E-EFCF-46CE-AB8A-D47D3BF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8DEB4-F4F0-43DA-A2BD-1200999D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EF46F-DCC2-430D-9487-11C2743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22028-00CF-41D7-9472-0293CB2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Solusi dapat berupa produk atau jasa dengan calon pelanggan yang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E8DAD-CAD9-42E5-9B08-E4674B7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Nilai tambah menjelaskan alasan pelanggan memilih solusi kalian.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88D20-344F-42BB-9031-E5D2ADFC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Validasi pasar membantu memeriksa kebutuhan dan minat calon pengguna.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9CDA1-5124-4C8B-B3DE-D34975B7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Model usaha menjelaskan biaya, harga, pendapatan, dan cara menjangkau pelanggan.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802A9-FC45-42F0-BE9A-6D2E1F1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BF9FF-A830-4A52-94EF-987BDEF6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Untuk ide awal, jalur latihan yang paling dekat adalah perencanaan usaha.</a:t>
            </a:r>
          </a:p>
        </p:txBody>
      </p:sp>
    </p:spTree>
    <p:extLst>
      <p:ext uri="{BB962C8B-B14F-4D97-AF65-F5344CB8AC3E}">
        <p14:creationId xmlns:p14="http://schemas.microsoft.com/office/powerpoint/2010/main" val="2063539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79F96-A2F4-456D-AA4D-8C0C6ABAE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ca29c91ab40dc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6305E-847E-49E1-B6F9-262BCF7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878E9-3A46-482F-951A-FB05B4B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Gambaran luaran FIKSI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BBB8A-C562-466D-9F39-F35F3E9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95F9-8330-44FE-A2C5-9ADD6A9C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4E469-4434-4023-9906-768D76E4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5AF18-2AE6-4920-AF29-F76537000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8852df8174d24"/>
          <a:stretch xmlns:a="http://schemas.openxmlformats.org/drawingml/2006/main"/>
        </p:blipFill>
        <p:spPr>
          <a:xfrm xmlns:a="http://schemas.openxmlformats.org/drawingml/2006/main">
            <a:off x="2882900" y="1543050"/>
            <a:ext cx="6350000" cy="3571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B98D5-921B-4C94-B2D1-2C58CFCC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07EBD-8125-4E02-9D5B-7DEB5DA5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Sosialisasi 2026: prototype dan rencana bisnis menjadi bagian pengembangan gagasan usaha.</a:t>
            </a:r>
          </a:p>
        </p:txBody>
      </p:sp>
    </p:spTree>
    <p:extLst>
      <p:ext uri="{BB962C8B-B14F-4D97-AF65-F5344CB8AC3E}">
        <p14:creationId xmlns:p14="http://schemas.microsoft.com/office/powerpoint/2010/main" val="1139281881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B285BC83-FDBE-4673-A649-543429512C8B}"/>
              </a:ext>
            </a:extLst>
          </p:cNvPr>
          <p:cNvPicPr>
            <a:picLocks noChangeAspect="1"/>
          </p:cNvPicPr>
          <p:nvPr/>
        </p:nvPicPr>
        <p:blipFill>
          <a:blip r:embed="Rcad579f5b5ff42f9"/>
          <a:stretch/>
        </p:blipFill>
        <p:spPr>
          <a:xfrm>
            <a:off x="10458450" y="182807"/>
            <a:ext cx="819150" cy="472587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FD63198-4C09-4454-9F77-F69862586D64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744200" cy="552450"/>
          </a:xfrm>
          <a:prstGeom prst="rect">
            <a:avLst/>
          </a:prstGeom>
          <a:solidFill>
            <a:srgbClr val="24577A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EB06B7C5-D40A-4262-B09E-15FD3EC6E824}"/>
              </a:ext>
            </a:extLst>
          </p:cNvPr>
          <p:cNvSpPr>
            <a:spLocks noGrp="1"/>
          </p:cNvSpPr>
          <p:nvPr/>
        </p:nvSpPr>
        <p:spPr>
          <a:xfrm>
            <a:off x="895350" y="838200"/>
            <a:ext cx="102679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FFFFFF"/>
                </a:solidFill>
              </a:defRPr>
            </a:defPPr>
          </a:lstStyle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FIKSI: SHI Apps</a:t>
            </a:r>
          </a:p>
        </p:txBody>
      </p:sp>
      <p:sp>
        <p:nvSpPr>
          <p:cNvPr id="4" name="">
            <a:extLst>
              <a:ext uri="{FF2B5EF4-FFF2-40B4-BE49-F238E27FC236}">
                <ns2:creationId id="{A2E7EDBC-3212-44E7-A6FA-2482C9F7210F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10744200" cy="11430"/>
          </a:xfrm>
          <a:prstGeom prst="rect">
            <a:avLst/>
          </a:prstGeom>
          <a:solidFill>
            <a:srgbClr val="C8D6E2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2:creationId id="{D5BBF374-AFEF-4062-938C-DEE3E0A218AE}"/>
              </a:ext>
            </a:extLst>
          </p:cNvPr>
          <p:cNvSpPr>
            <a:spLocks noGrp="1"/>
          </p:cNvSpPr>
          <p:nvPr/>
        </p:nvSpPr>
        <p:spPr>
          <a:xfrm>
            <a:off x="742950" y="6477000"/>
            <a:ext cx="7048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900" b="0">
                <a:solidFill>
                  <a:srgbClr val="5B6770"/>
                </a:solidFill>
              </a:defRPr>
            </a:defPPr>
          </a:lstStyle>
          <a:p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>
              <a:ext uri="{FF2B5EF4-FFF2-40B4-BE49-F238E27FC236}">
                <ns2:creationId id="{E390B636-4E36-449B-8037-9584E12CEE94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900" b="0">
                <a:solidFill>
                  <a:srgbClr val="5B6770"/>
                </a:solidFill>
              </a:defRPr>
            </a:defPPr>
          </a:lstStyle>
          <a:p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7" name="">
            <a:extLst>
              <a:ext uri="{FF2B5EF4-FFF2-40B4-BE49-F238E27FC236}">
                <ns2:creationId id="{CB9DA812-3124-49AE-AAD4-1777FCDE5B03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5476875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550" b="1">
                <a:solidFill>
                  <a:srgbClr val="16324F"/>
                </a:solidFill>
              </a:defRPr>
            </a:defPPr>
          </a:lstStyle>
          <a:p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Layanan belajar riset</a:t>
            </a:r>
          </a:p>
          <a:p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untuk pelajar</a:t>
            </a:r>
          </a:p>
        </p:txBody>
      </p:sp>
      <p:sp>
        <p:nvSpPr>
          <p:cNvPr id="8" name="">
            <a:extLst>
              <a:ext uri="{FF2B5EF4-FFF2-40B4-BE49-F238E27FC236}">
                <ns2:creationId id="{0F5C9862-C263-491E-9387-EC0F22F99BB9}"/>
              </a:ext>
            </a:extLst>
          </p:cNvPr>
          <p:cNvSpPr>
            <a:spLocks noGrp="1"/>
          </p:cNvSpPr>
          <p:nvPr/>
        </p:nvSpPr>
        <p:spPr>
          <a:xfrm>
            <a:off x="914400" y="2981325"/>
            <a:ext cx="5476875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00" b="0">
                <a:solidFill>
                  <a:srgbClr val="1F2933"/>
                </a:solidFill>
              </a:defRPr>
            </a:defPPr>
          </a:lstStyle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Sumber contoh: ringkasan eksekutif SHI Team 2025.</a:t>
            </a:r>
          </a:p>
        </p:txBody>
      </p:sp>
      <p:sp>
        <p:nvSpPr>
          <p:cNvPr id="9" name="">
            <a:extLst>
              <a:ext uri="{FF2B5EF4-FFF2-40B4-BE49-F238E27FC236}">
                <ns2:creationId id="{48656AEC-B6FB-448A-8E20-B7256F52F027}"/>
              </a:ext>
            </a:extLst>
          </p:cNvPr>
          <p:cNvSpPr>
            <a:spLocks noGrp="1"/>
          </p:cNvSpPr>
          <p:nvPr/>
        </p:nvSpPr>
        <p:spPr>
          <a:xfrm>
            <a:off x="914400" y="3762375"/>
            <a:ext cx="5476875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00" b="0">
                <a:solidFill>
                  <a:srgbClr val="1F2933"/>
                </a:solidFill>
              </a:defRPr>
            </a:defPPr>
          </a:lstStyle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Masalah pengguna: kebutuhan pelatihan dan pendampingan karya ilmiah.</a:t>
            </a:r>
          </a:p>
        </p:txBody>
      </p:sp>
      <p:sp>
        <p:nvSpPr>
          <p:cNvPr id="10" name="">
            <a:extLst>
              <a:ext uri="{FF2B5EF4-FFF2-40B4-BE49-F238E27FC236}">
                <ns2:creationId id="{EA4D2944-5FBB-4C66-BCBE-B15F088DBB2D}"/>
              </a:ext>
            </a:extLst>
          </p:cNvPr>
          <p:cNvSpPr>
            <a:spLocks noGrp="1"/>
          </p:cNvSpPr>
          <p:nvPr/>
        </p:nvSpPr>
        <p:spPr>
          <a:xfrm>
            <a:off x="914400" y="4543425"/>
            <a:ext cx="5476875" cy="6572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00" b="0">
                <a:solidFill>
                  <a:srgbClr val="1F2933"/>
                </a:solidFill>
              </a:defRPr>
            </a:defPPr>
          </a:lstStyle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Solusi: kelas serta layanan pendampingan melalui platform digital.</a:t>
            </a:r>
          </a:p>
        </p:txBody>
      </p:sp>
      <p:pic>
        <p:nvPicPr>
          <p:cNvPr id="11" name="">
            <a:extLst>
              <a:ext uri="{FF2B5EF4-FFF2-40B4-BE49-F238E27FC236}">
                <ns2:creationId id="{D74243E8-1452-443C-86A1-1336486EFAFE}"/>
              </a:ext>
            </a:extLst>
          </p:cNvPr>
          <p:cNvPicPr>
            <a:picLocks noChangeAspect="1"/>
          </p:cNvPicPr>
          <p:nvPr/>
        </p:nvPicPr>
        <p:blipFill>
          <a:blip r:embed="R7f0370a32e044021"/>
          <a:stretch/>
        </p:blipFill>
        <p:spPr>
          <a:xfrm>
            <a:off x="7657743" y="1524000"/>
            <a:ext cx="2762964" cy="3905250"/>
          </a:xfrm>
          <a:prstGeom prst="rect">
            <a:avLst/>
          </a:prstGeom>
        </p:spPr>
      </p:pic>
      <p:sp>
        <p:nvSpPr>
          <p:cNvPr id="12" name="LINK_0">
            <a:extLst>
              <a:ext uri="{FF2B5EF4-FFF2-40B4-BE49-F238E27FC236}">
                <ns2:creationId id="{7D0F44A6-2498-46B1-825C-FBAF92B68E5E}"/>
              </a:ext>
            </a:extLst>
          </p:cNvPr>
          <p:cNvSpPr>
            <a:spLocks noGrp="1"/>
          </p:cNvSpPr>
          <p:nvPr/>
        </p:nvSpPr>
        <p:spPr>
          <a:xfrm>
            <a:off x="914400" y="54768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650" b="1">
                <a:solidFill>
                  <a:srgbClr val="24577A"/>
                </a:solidFill>
              </a:defRPr>
            </a:defPPr>
          </a:lstStyle>
          <a:p>
            <a:pPr algn="l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  <a:hlinkClick r:id="rIdLink1"/>
              </a:rPr>
              <a:t>Website SHI Apps</a:t>
            </a:r>
          </a:p>
        </p:txBody>
      </p:sp>
      <p:sp>
        <p:nvSpPr>
          <p:cNvPr id="13" name="LINK_1">
            <a:extLst>
              <a:ext uri="{FF2B5EF4-FFF2-40B4-BE49-F238E27FC236}">
                <ns2:creationId id="{40E9635F-D2EE-42B4-BDD6-5E0278354256}"/>
              </a:ext>
            </a:extLst>
          </p:cNvPr>
          <p:cNvSpPr>
            <a:spLocks noGrp="1"/>
          </p:cNvSpPr>
          <p:nvPr/>
        </p:nvSpPr>
        <p:spPr>
          <a:xfrm>
            <a:off x="6800850" y="5476875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650" b="1">
                <a:solidFill>
                  <a:srgbClr val="24577A"/>
                </a:solidFill>
              </a:defRPr>
            </a:defPPr>
          </a:lstStyle>
          <a:p>
            <a:pPr algn="l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  <a:hlinkClick r:id="rIdLink2"/>
              </a:rPr>
              <a:t>Video produk / jasa SHI</a:t>
            </a:r>
          </a:p>
        </p:txBody>
      </p:sp>
    </p:spTree>
    <p:extLst>
      <p:ext uri="{BB962C8B-B14F-4D97-AF65-F5344CB8AC3E}">
        <ns4:creationId val="1388865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55FED-0A5C-4A22-9524-E4E9DC52E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29491ace24b50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ABBB4-9781-4BF1-B48E-4816D472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E7892-EB14-4583-AEA6-5B245462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Nilai tambah dan biaya awal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CF54D-C27C-4235-A59F-58F2DCF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DC145-A36E-479B-9CDB-F22758DA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83B8F-13D2-46FC-B83C-9BB56242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E73E2-037D-4095-91C1-38D62011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Nilai tambah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53089-A929-49F3-9223-F48D098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Biaya awal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7568-39A5-48C5-B2D5-22C1A101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Siapa calon pelanggan dan siapa pengguna? Keduanya bisa berbeda.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E92C3-86B2-407C-9379-DF2D3934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Cara apa yang mereka gunakan sekarang?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C5957-34BC-4965-A58A-BE3F8ED9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Apa kelebihan yang dapat kalian buktikan?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586BD-9276-439F-9306-CA516DA6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Bahan, kemasan, tenaga, dan biaya operasional harus tercatat.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DA087-3F1D-47A6-B99A-5CA8B63B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HPP per unit = biaya produksi untuk satu unit.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4AC9D-9191-4496-BEB1-715FFD53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Harga jual dikurangi HPP masih perlu menutup biaya lain.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0215D-507F-472F-9A87-3A21B56A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57E6C-D240-4DC4-A5B7-B35C9A15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Bedakan harga perkiraan dan harga dari sumber. Klaim “murah” perlu pembanding.</a:t>
            </a:r>
          </a:p>
        </p:txBody>
      </p:sp>
    </p:spTree>
    <p:extLst>
      <p:ext uri="{BB962C8B-B14F-4D97-AF65-F5344CB8AC3E}">
        <p14:creationId xmlns:p14="http://schemas.microsoft.com/office/powerpoint/2010/main" val="565632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BEB21-9585-46CF-BD6C-3C7552A51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2bdc4fa53416e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102E7-94C3-407F-923A-E395D6F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38BFB-9DF0-41C2-A34B-FCE8260D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hitungan usaha sederhana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2136E-2D9B-4081-A69D-13139860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93833-857C-4A1D-8B60-6BACA971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069B8-445F-4ED9-875E-56FCD90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F2A09-34BC-44E2-B32F-FDBCE1D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24F"/>
                </a:solidFill>
              </a:defRPr>
            </a:pPr>
            <a:r>
              <a:rPr sz="2550" b="1">
                <a:solidFill>
                  <a:srgbClr val="16324F"/>
                </a:solidFill>
              </a:rPr>
              <a:t>Simulasi kit kartu belajar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E6C1A-5590-4170-9A2D-81B5061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Biaya produksi 10 kit: Rp200.000. HPP: Rp20.000 per kit.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A38ED-7ED3-4B16-A2D4-F161848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Harga rencana: Rp30.000 per kit. Selisih dengan HPP: Rp10.000 per kit.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897CB-4544-48D2-9637-DFE02109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Selisih tersebut belum memperhitungkan promosi, transportasi, dan biaya lain.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8BC54-B86B-47BE-830B-C259F29E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287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Minat beli perlu diperiksa melalui wawancara. Penjualan belum terbukti.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B0B6F-35ED-40EE-A5D6-2B329F9D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42775-E435-494C-959A-8E43D787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Ini contoh angka latihan, bukan hasil penjualan atau rekomendasi harga.</a:t>
            </a:r>
          </a:p>
        </p:txBody>
      </p:sp>
    </p:spTree>
    <p:extLst>
      <p:ext uri="{BB962C8B-B14F-4D97-AF65-F5344CB8AC3E}">
        <p14:creationId xmlns:p14="http://schemas.microsoft.com/office/powerpoint/2010/main" val="1886506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DFA39-CEA7-4AE8-A6C5-599525622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2075f4fb74725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7DEDB-57E2-4D84-9F58-EA84FAC3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50BD7-38F8-47AF-BE0F-0D131CE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Sumber pembanding dan kebaruan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DA106-6C1D-4B4E-9336-453BBF5A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4E070-A5AA-4DAC-8268-4A22D3B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01A5A-9777-4A32-9F9D-1A1A058B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CDC5D-CAC8-4B3E-AEAA-A3104569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Cari sedikitnya tiga penelitian, produk, atau layanan yang dekat dengan ide kalian.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0E64B-DEB3-4311-9D8F-3206950D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Catat masalah, cara kerja atau metode, kelebihan, serta keterbatasannya.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1DAC5-CB0D-4ACD-ADA9-6DEF2ED5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Tunjukkan bagian yang kalian ubah: konteks, cara, bahan, pengguna, atau fitur.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8C521-6738-461D-91C4-0FB1688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Jelaskan mengapa perubahan itu penting dan bagaimana kalian akan mengujinya.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7CF92-7B34-4E1A-8FF4-31A0E67B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93CC4-A3DE-4395-A5EE-1C27EAD5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Hindari klaim “pertama di dunia” sebelum melakukan penelusuran yang memadai.</a:t>
            </a:r>
          </a:p>
        </p:txBody>
      </p:sp>
    </p:spTree>
    <p:extLst>
      <p:ext uri="{BB962C8B-B14F-4D97-AF65-F5344CB8AC3E}">
        <p14:creationId xmlns:p14="http://schemas.microsoft.com/office/powerpoint/2010/main" val="7655152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E9150-48FA-4237-A10D-372A77986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e3fd4f2e84524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224FD-389D-48A4-84C3-69779A5A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3601D-7B06-4620-B58A-7FDB254C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Bukti awal dan validasi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13F7E-15C5-4AB2-91A2-1CEE1ED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D357C-22C2-4952-9658-B1E78C43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49897-6470-493C-9E3B-7C40902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3C61E-BF40-46B4-BFA5-E2145545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Jalur penelitian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4E2AC-F02B-435B-B78A-3F1C4E8C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Jalur usaha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D85CA-5F3B-438F-AD4A-7A874BB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Lakukan pengamatan awal atau uji kecil untuk memeriksa kelayakan metode.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B4A4D-9A6B-4CD9-8F9A-B33E267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Contoh: uji tabel diary pada dua siswa yang bersedia.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C7387-9417-4A94-9CEA-4A452384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Catat bagian instrumen yang membingungkan.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EEFDC-07A0-4B07-B4A0-2B6C5E91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Wawancarai calon pengguna dan periksa masalah serta solusi saat ini.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A9F34-15F4-46F4-8A0D-AAC7ABA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Contoh: minta tiga calon pengguna menanggapi sketsa kit belajar.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1EA8C-20A4-40AD-BBCE-4AB0F43A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Catat masukan yang mengubah desain atau harga.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F8C42-5C75-42E9-83F0-538579E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B3332-BF88-4AC1-AEB3-3CEB2E2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Uji kecil adalah bukti awal. Sampel kecil belum mewakili seluruh siswa atau pasar.</a:t>
            </a:r>
          </a:p>
        </p:txBody>
      </p:sp>
    </p:spTree>
    <p:extLst>
      <p:ext uri="{BB962C8B-B14F-4D97-AF65-F5344CB8AC3E}">
        <p14:creationId xmlns:p14="http://schemas.microsoft.com/office/powerpoint/2010/main" val="460179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791D5-DB9D-4307-A24D-E43BB05A7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231d963b6477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C5D09-3955-47E8-AD39-DD34240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547C9-404A-4143-BFA6-7E405706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Etika penelitian dan penggunaan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A746B-F8FE-4F98-82F4-FBD1BB34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E1E85-2B8C-49DB-90AD-44E469E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8913A-21DC-4CC4-ACFA-51AE551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BEF66-D150-43F0-8397-87C9DB38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Minta persetujuan. Gunakan kode partisipan dan data minimum yang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7EF79-7F2E-4EE2-AF0A-85727F65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Simpan catatan asli. Data, wawancara, dan transaksi harus benar-benar terjadi.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70CC5-F06B-4846-B890-8E49CA2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AI boleh membantu menyusun pertanyaan atau merapikan tulisan. Periksa sumber dan isinya.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D49C5-3398-4875-8246-5DD41EFF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Tulis kontribusi tiap anggota serta bantuan AI. Beri sumber untuk kutipan dan gambar.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ED87B-C6D8-4048-92D8-595A75D3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F64DC-C89A-4A03-A15B-0E74E9D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Kegiatan berisiko dan eksperimen yang melibatkan manusia perlu persetujuan guru.</a:t>
            </a:r>
          </a:p>
        </p:txBody>
      </p:sp>
    </p:spTree>
    <p:extLst>
      <p:ext uri="{BB962C8B-B14F-4D97-AF65-F5344CB8AC3E}">
        <p14:creationId xmlns:p14="http://schemas.microsoft.com/office/powerpoint/2010/main" val="16298497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17DF5-9A38-4986-B5B7-3CE5165B9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abfac0de84ea7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A6883-65EA-4396-B451-E881145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2FB0E-8160-4466-8812-E0BE0D4E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Umpan balik untuk proposal kalian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827E0-048C-4C5F-ABDA-9D1EC8D4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B9537-9813-4D37-99CC-AFD40FA4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8646F-27E4-4E2C-81A2-EBF20E9A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F2DCD-DC78-4BEB-A727-522014F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Sampaikan ide kelompok secara singkat: masalah, jalur, dan bukti yang masih kurang.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EF431-8642-4EAF-9823-22B5B73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Kelompok lain memberi satu pertanyaan tentang metode atau calon pelanggan.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DBF35-9ED3-475E-8A3A-69E54428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Catat satu masukan yang paling membantu dan alasan kalian menerimanya.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6CDD8-6C67-48CB-AA3D-486BE2B8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Gunakan catatan itu untuk memperbaiki proposal versi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00250-A691-4536-B174-25C7BFA3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5771D-3737-449A-B70E-AEBC367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Pertanyaan diskusi: bukti apa yang bisa membuat kelompok mengubah kesimpulan atau desain?</a:t>
            </a:r>
          </a:p>
        </p:txBody>
      </p:sp>
    </p:spTree>
    <p:extLst>
      <p:ext uri="{BB962C8B-B14F-4D97-AF65-F5344CB8AC3E}">
        <p14:creationId xmlns:p14="http://schemas.microsoft.com/office/powerpoint/2010/main" val="8237369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66F97-F81A-4953-A201-4A42B33340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9ea71f2284256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C7EE1-A797-49C9-8321-3759B74A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B2B2E-C6B8-4492-A814-7C2DF2C7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Tugas lanjutan: Proposal Versi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3351E-ED40-4EF7-A1B4-A8958DCA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A1ED7-69D1-4AD9-B265-58D39F11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42B34-6129-47AF-963F-8C0DE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25BD4-148D-42F4-9222-0F9B3D2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Lanjutkan proposal mini dari pertemuan terakhir dengan judul atau ide 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95B08-BC0A-4A17-B08F-D3A24D8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Perjelas masalah dan pilih jalur penelitian OPSI atau rencana usaha FIKSI.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C513D-1034-4A12-B013-632B3693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Tambahkan tabel tiga sumber pembanding dan penjelasan kontribusi ide kalian.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BFD43-753A-4164-A4F3-28E93CA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Sertakan minimal satu bukti awal yang benar-benar kalian kumpulkan.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21486-8D02-44E0-B6EF-14AB2368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F6AE1-3631-4CDB-A492-48DC27F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Jika jalur berubah, jelaskan alasan dan bukti yang mendasarinya.</a:t>
            </a:r>
          </a:p>
        </p:txBody>
      </p:sp>
    </p:spTree>
    <p:extLst>
      <p:ext uri="{BB962C8B-B14F-4D97-AF65-F5344CB8AC3E}">
        <p14:creationId xmlns:p14="http://schemas.microsoft.com/office/powerpoint/2010/main" val="16248678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B5F5A-5199-414D-B4C1-E105C3906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08365888f470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949B1-4397-4495-A98A-B08636E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81C73-A902-48AF-B237-5D6DAB1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Bagian tambahan sesuai pilihan jalur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742EC-947D-4310-9BEF-483B76B8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E8A1A-2118-448B-B8AA-57EC8F11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D10DB-5D60-47BB-A67F-12F721BC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5C7D5-9F3C-4D49-9E87-FD688BFD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Penelitian / OPSI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64E3D-14FA-47DF-A6C5-8BF7E86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24F"/>
                </a:solidFill>
              </a:defRPr>
            </a:pPr>
            <a:r>
              <a:rPr sz="2175" b="1">
                <a:solidFill>
                  <a:srgbClr val="16324F"/>
                </a:solidFill>
              </a:rPr>
              <a:t>Rencana usaha / FIKSI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1EA89-51DE-463B-8407-5E1DB25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Rumusan masalah, tujuan, objek atau variabel, dan rencana metode.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BF7FF-0B36-4E68-B798-5B39FD8F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Contoh instrumen serta rencana analisis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BABA3-9C78-4599-B472-37849474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Keterbatasan dan langkah menjaga etika.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AAC41-77D4-423F-A995-44741CD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9552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Pengguna, calon pelanggan, nilai tambah, dan sketsa prototype.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88F17-C944-4AEE-8B5D-1CF2087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Ringkasan wawancara serta biaya, HPP, dan harga perkiraan.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C841E-21D5-4FFF-8B70-03F1120D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52875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Cara menjangkau pelanggan dan rencana validasi berikutnya.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BE50E-7A19-4631-BDB8-F8F11C05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BEF82-E6DF-46F4-9173-2554534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Latihan kelas ini menyiapkan bahan awal. Format pendaftaran mengikuti pedoman ajang.</a:t>
            </a:r>
          </a:p>
        </p:txBody>
      </p:sp>
    </p:spTree>
    <p:extLst>
      <p:ext uri="{BB962C8B-B14F-4D97-AF65-F5344CB8AC3E}">
        <p14:creationId xmlns:p14="http://schemas.microsoft.com/office/powerpoint/2010/main" val="324690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BF47A-C948-479E-9D8B-81DC30CA4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396580a364e6d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3CA9F-7F53-442B-A49E-B815EEB5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BD1CA-4CA9-413D-809C-5E0DF08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38200"/>
            <a:ext cx="1026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Hasil yang dikumpulkan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9E171-956C-4497-A7B1-5BF6E78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6B7FB-F9AB-4FBF-8189-4327385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DC7DB-8DBB-4A6A-AF17-5D74CF2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5B677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B3487-C32A-4F88-A078-D6440D6B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PDF 4–6 halaman atau presentasi 6–8 slide, dengan nama seluruh anggota.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72452-7ADC-414D-9F4E-0E9F429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Lampiran: tabel sumber, bukti awal, sketsa atau instrumen, dan pembagian peran.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FA579-234E-4A30-8DC2-A79808D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Tabel revisi: bagian lama, masukan atau temuan, serta perubahan pada versi 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9C30E-2751-4A0C-99A6-765DB66A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F2933"/>
                </a:solidFill>
              </a:defRPr>
            </a:pPr>
            <a:r>
              <a:rPr sz="1950" b="0">
                <a:solidFill>
                  <a:srgbClr val="1F2933"/>
                </a:solidFill>
              </a:rPr>
              <a:t>Rencana langkah berikutnya: kegiatan, penanggung jawab, kebutuhan, dan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4E8A7-2F65-4DC4-8874-F4954DC9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647D4-F1D2-48EF-B8CE-9F6FDEE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632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Penilaian: ketajaman masalah, bukti, mutu metode atau usaha, kelayakan, dan kejujuran.</a:t>
            </a:r>
          </a:p>
        </p:txBody>
      </p:sp>
    </p:spTree>
    <p:extLst>
      <p:ext uri="{BB962C8B-B14F-4D97-AF65-F5344CB8AC3E}">
        <p14:creationId xmlns:p14="http://schemas.microsoft.com/office/powerpoint/2010/main" val="494614008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>
            <a:extLst>
              <a:ext uri="{FF2B5EF4-FFF2-40B4-BE49-F238E27FC236}">
                <ns2:creationId id="{762138ED-D798-40B8-9F9B-8102D31911D0}"/>
              </a:ext>
            </a:extLst>
          </p:cNvPr>
          <p:cNvPicPr>
            <a:picLocks noChangeAspect="1"/>
          </p:cNvPicPr>
          <p:nvPr/>
        </p:nvPicPr>
        <p:blipFill>
          <a:blip r:embed="R03bfe6f8fffa49be"/>
          <a:stretch/>
        </p:blipFill>
        <p:spPr>
          <a:xfrm>
            <a:off x="10458450" y="182807"/>
            <a:ext cx="819150" cy="472587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524392D-38D8-451E-B7A7-BB5474A7FD40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744200" cy="552450"/>
          </a:xfrm>
          <a:prstGeom prst="rect">
            <a:avLst/>
          </a:prstGeom>
          <a:solidFill>
            <a:srgbClr val="24577A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5A0A859E-41A4-42F1-B992-568658601FF0}"/>
              </a:ext>
            </a:extLst>
          </p:cNvPr>
          <p:cNvSpPr>
            <a:spLocks noGrp="1"/>
          </p:cNvSpPr>
          <p:nvPr/>
        </p:nvSpPr>
        <p:spPr>
          <a:xfrm>
            <a:off x="895350" y="838200"/>
            <a:ext cx="102679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FFFFFF"/>
                </a:solidFill>
              </a:defRPr>
            </a:defPPr>
          </a:lstStyle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Pengumpulan tugas</a:t>
            </a:r>
          </a:p>
        </p:txBody>
      </p:sp>
      <p:sp>
        <p:nvSpPr>
          <p:cNvPr id="4" name="">
            <a:extLst>
              <a:ext uri="{FF2B5EF4-FFF2-40B4-BE49-F238E27FC236}">
                <ns2:creationId id="{97D36F76-DAFD-409A-831D-5259D4D76696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10744200" cy="11430"/>
          </a:xfrm>
          <a:prstGeom prst="rect">
            <a:avLst/>
          </a:prstGeom>
          <a:solidFill>
            <a:srgbClr val="C8D6E2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2:creationId id="{522D3DF8-98F5-4F88-8CE2-D3B7571F971F}"/>
              </a:ext>
            </a:extLst>
          </p:cNvPr>
          <p:cNvSpPr>
            <a:spLocks noGrp="1"/>
          </p:cNvSpPr>
          <p:nvPr/>
        </p:nvSpPr>
        <p:spPr>
          <a:xfrm>
            <a:off x="742950" y="6477000"/>
            <a:ext cx="7048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900" b="0">
                <a:solidFill>
                  <a:srgbClr val="5B6770"/>
                </a:solidFill>
              </a:defRPr>
            </a:defPPr>
          </a:lstStyle>
          <a:p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>
              <a:ext uri="{FF2B5EF4-FFF2-40B4-BE49-F238E27FC236}">
                <ns2:creationId id="{F4B40B0E-AF75-4E3B-B605-8837E50F16AD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900" b="0">
                <a:solidFill>
                  <a:srgbClr val="5B6770"/>
                </a:solidFill>
              </a:defRPr>
            </a:defPPr>
          </a:lstStyle>
          <a:p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7" name="">
            <a:extLst>
              <a:ext uri="{FF2B5EF4-FFF2-40B4-BE49-F238E27FC236}">
                <ns2:creationId id="{1D117503-64B7-46F5-B64A-F4CF111C006A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10191750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3075" b="1">
                <a:solidFill>
                  <a:srgbClr val="16324F"/>
                </a:solidFill>
              </a:defRPr>
            </a:defPPr>
          </a:lstStyle>
          <a:p>
            <a:pPr algn="l">
              <a:defRPr sz="3075" b="1">
                <a:solidFill>
                  <a:srgbClr val="16324F"/>
                </a:solidFill>
              </a:defRPr>
            </a:pPr>
            <a:r>
              <a:rPr sz="3075" b="1">
                <a:solidFill>
                  <a:srgbClr val="16324F"/>
                </a:solidFill>
              </a:rPr>
              <a:t>Proposal kalian berkembang</a:t>
            </a:r>
          </a:p>
          <a:p>
            <a:pPr algn="l">
              <a:defRPr sz="3075" b="1">
                <a:solidFill>
                  <a:srgbClr val="16324F"/>
                </a:solidFill>
              </a:defRPr>
            </a:pPr>
            <a:r>
              <a:rPr sz="3075" b="1">
                <a:solidFill>
                  <a:srgbClr val="16324F"/>
                </a:solidFill>
              </a:rPr>
              <a:t>melalui bukti dan masukan</a:t>
            </a:r>
          </a:p>
        </p:txBody>
      </p:sp>
      <p:sp>
        <p:nvSpPr>
          <p:cNvPr id="8" name="LINK_2">
            <a:extLst>
              <a:ext uri="{FF2B5EF4-FFF2-40B4-BE49-F238E27FC236}">
                <ns2:creationId id="{99175CFA-96AD-4521-AFC8-D3568BB999ED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650" b="1">
                <a:solidFill>
                  <a:srgbClr val="24577A"/>
                </a:solidFill>
              </a:defRPr>
            </a:defPPr>
          </a:lstStyle>
          <a:p>
            <a:pPr algn="l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  <a:hlinkClick r:id="rIdLink1"/>
              </a:rPr>
              <a:t>Kirim ke ataka.ahmad@gmail.com</a:t>
            </a:r>
          </a:p>
        </p:txBody>
      </p:sp>
      <p:sp>
        <p:nvSpPr>
          <p:cNvPr id="9" name="">
            <a:extLst>
              <a:ext uri="{FF2B5EF4-FFF2-40B4-BE49-F238E27FC236}">
                <ns2:creationId id="{3FA30121-6A17-4FFB-9C82-4BE1B2C8ADB2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100965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75" b="1">
                <a:solidFill>
                  <a:srgbClr val="16324F"/>
                </a:solidFill>
              </a:defRPr>
            </a:defPPr>
          </a:lstStyle>
          <a:p>
            <a:pPr algn="l"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Subject email:</a:t>
            </a:r>
          </a:p>
          <a:p>
            <a:pPr algn="l"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SMA Teladan X - Proposal Versi 2 OPSI FIKSI - [Nama Kelompok]</a:t>
            </a:r>
          </a:p>
        </p:txBody>
      </p:sp>
      <p:sp>
        <p:nvSpPr>
          <p:cNvPr id="10" name="">
            <a:extLst>
              <a:ext uri="{FF2B5EF4-FFF2-40B4-BE49-F238E27FC236}">
                <ns2:creationId id="{51765884-35B2-43B6-B2BF-E3FE4D308A30}"/>
              </a:ext>
            </a:extLst>
          </p:cNvPr>
          <p:cNvSpPr>
            <a:spLocks noGrp="1"/>
          </p:cNvSpPr>
          <p:nvPr/>
        </p:nvSpPr>
        <p:spPr>
          <a:xfrm>
            <a:off x="914400" y="5514975"/>
            <a:ext cx="10287000" cy="628650"/>
          </a:xfrm>
          <a:prstGeom prst="rect">
            <a:avLst/>
          </a:prstGeom>
          <a:solidFill>
            <a:srgbClr val="EAF3F8"/>
          </a:solidFill>
          <a:ln w="0">
            <a:noFill/>
          </a:ln>
        </p:spPr>
      </p:sp>
      <p:sp>
        <p:nvSpPr>
          <p:cNvPr id="11" name="">
            <a:extLst>
              <a:ext uri="{FF2B5EF4-FFF2-40B4-BE49-F238E27FC236}">
                <ns2:creationId id="{842FF2C6-EEC0-42B9-91D3-7AAF538065BE}"/>
              </a:ext>
            </a:extLst>
          </p:cNvPr>
          <p:cNvSpPr>
            <a:spLocks noGrp="1"/>
          </p:cNvSpPr>
          <p:nvPr/>
        </p:nvSpPr>
        <p:spPr>
          <a:xfrm>
            <a:off x="1066800" y="5629275"/>
            <a:ext cx="99822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75" b="1">
                <a:solidFill>
                  <a:srgbClr val="16324F"/>
                </a:solidFill>
              </a:defRPr>
            </a:defPPr>
          </a:lstStyle>
          <a:p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Sertakan file hasil, lampiran, pilihan jalur, dan nama seluruh anggota kelompok.</a:t>
            </a:r>
          </a:p>
        </p:txBody>
      </p:sp>
    </p:spTree>
    <p:extLst>
      <p:ext uri="{BB962C8B-B14F-4D97-AF65-F5344CB8AC3E}">
        <ns4:creationId val="1232649899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CDA6B9FD-12C7-4F26-8CE7-29F2B72384D7}"/>
              </a:ext>
            </a:extLst>
          </p:cNvPr>
          <p:cNvPicPr>
            <a:picLocks noChangeAspect="1"/>
          </p:cNvPicPr>
          <p:nvPr/>
        </p:nvPicPr>
        <p:blipFill>
          <a:blip r:embed="R7469db9320a243a5"/>
          <a:stretch/>
        </p:blipFill>
        <p:spPr>
          <a:xfrm>
            <a:off x="10458450" y="182807"/>
            <a:ext cx="819150" cy="472587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B510EE5-D136-4FB6-97D9-46EBC5F8271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744200" cy="552450"/>
          </a:xfrm>
          <a:prstGeom prst="rect">
            <a:avLst/>
          </a:prstGeom>
          <a:solidFill>
            <a:srgbClr val="24577A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39E28152-2079-4AC4-8D80-BBFB40761BB5}"/>
              </a:ext>
            </a:extLst>
          </p:cNvPr>
          <p:cNvSpPr>
            <a:spLocks noGrp="1"/>
          </p:cNvSpPr>
          <p:nvPr/>
        </p:nvSpPr>
        <p:spPr>
          <a:xfrm>
            <a:off x="895350" y="838200"/>
            <a:ext cx="102679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2250" b="1">
                <a:solidFill>
                  <a:srgbClr val="FFFFFF"/>
                </a:solidFill>
              </a:defRPr>
            </a:defPPr>
          </a:lstStyle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Pedoman dan bahan pendamping</a:t>
            </a:r>
          </a:p>
        </p:txBody>
      </p:sp>
      <p:sp>
        <p:nvSpPr>
          <p:cNvPr id="4" name="">
            <a:extLst>
              <a:ext uri="{FF2B5EF4-FFF2-40B4-BE49-F238E27FC236}">
                <ns2:creationId id="{7D8C53A8-7338-42A6-89CD-0513F9F71C59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10744200" cy="11430"/>
          </a:xfrm>
          <a:prstGeom prst="rect">
            <a:avLst/>
          </a:prstGeom>
          <a:solidFill>
            <a:srgbClr val="C8D6E2"/>
          </a:solidFill>
          <a:ln w="0">
            <a:noFill/>
          </a:ln>
        </p:spPr>
      </p:sp>
      <p:sp>
        <p:nvSpPr>
          <p:cNvPr id="5" name="">
            <a:extLst>
              <a:ext uri="{FF2B5EF4-FFF2-40B4-BE49-F238E27FC236}">
                <ns2:creationId id="{81277C9C-2A98-4689-94AC-50473304B054}"/>
              </a:ext>
            </a:extLst>
          </p:cNvPr>
          <p:cNvSpPr>
            <a:spLocks noGrp="1"/>
          </p:cNvSpPr>
          <p:nvPr/>
        </p:nvSpPr>
        <p:spPr>
          <a:xfrm>
            <a:off x="742950" y="6477000"/>
            <a:ext cx="7048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900" b="0">
                <a:solidFill>
                  <a:srgbClr val="5B6770"/>
                </a:solidFill>
              </a:defRPr>
            </a:defPPr>
          </a:lstStyle>
          <a:p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· Unique Value Kelas X</a:t>
            </a:r>
          </a:p>
        </p:txBody>
      </p:sp>
      <p:sp>
        <p:nvSpPr>
          <p:cNvPr id="6" name="">
            <a:extLst>
              <a:ext uri="{FF2B5EF4-FFF2-40B4-BE49-F238E27FC236}">
                <ns2:creationId id="{B79784DE-59D8-4F5A-B23B-5F1B849B8A0F}"/>
              </a:ext>
            </a:extLst>
          </p:cNvPr>
          <p:cNvSpPr>
            <a:spLocks noGrp="1"/>
          </p:cNvSpPr>
          <p:nvPr/>
        </p:nvSpPr>
        <p:spPr>
          <a:xfrm>
            <a:off x="11001375" y="64770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900" b="0">
                <a:solidFill>
                  <a:srgbClr val="5B6770"/>
                </a:solidFill>
              </a:defRPr>
            </a:defPPr>
          </a:lstStyle>
          <a:p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7" name="LINK_3">
            <a:extLst>
              <a:ext uri="{FF2B5EF4-FFF2-40B4-BE49-F238E27FC236}">
                <ns2:creationId id="{5BC18EB9-1E0C-4946-BF83-16F727319C11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650" b="1">
                <a:solidFill>
                  <a:srgbClr val="24577A"/>
                </a:solidFill>
              </a:defRPr>
            </a:defPPr>
          </a:lstStyle>
          <a:p>
            <a:pPr algn="l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  <a:hlinkClick r:id="rIdLink1"/>
              </a:rPr>
              <a:t>Panduan resmi OPSI 2026</a:t>
            </a:r>
          </a:p>
        </p:txBody>
      </p:sp>
      <p:sp>
        <p:nvSpPr>
          <p:cNvPr id="8" name="">
            <a:extLst>
              <a:ext uri="{FF2B5EF4-FFF2-40B4-BE49-F238E27FC236}">
                <ns2:creationId id="{12BFF134-FEDF-43CD-92AD-5E92BD0334A8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00" b="0">
                <a:solidFill>
                  <a:srgbClr val="1F2933"/>
                </a:solidFill>
              </a:defRPr>
            </a:defPPr>
          </a:lstStyle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Gunakan untuk memahami arah penelitian dan format ajang.</a:t>
            </a:r>
          </a:p>
        </p:txBody>
      </p:sp>
      <p:sp>
        <p:nvSpPr>
          <p:cNvPr id="9" name="LINK_4">
            <a:extLst>
              <a:ext uri="{FF2B5EF4-FFF2-40B4-BE49-F238E27FC236}">
                <ns2:creationId id="{BB54D36A-24BF-4410-9A10-BF47DEE9F82E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650" b="1">
                <a:solidFill>
                  <a:srgbClr val="24577A"/>
                </a:solidFill>
              </a:defRPr>
            </a:defPPr>
          </a:lstStyle>
          <a:p>
            <a:pPr algn="l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  <a:hlinkClick r:id="rIdLink2"/>
              </a:rPr>
              <a:t>Informasi resmi dan panduan FIKSI 2026</a:t>
            </a:r>
          </a:p>
        </p:txBody>
      </p:sp>
      <p:sp>
        <p:nvSpPr>
          <p:cNvPr id="10" name="">
            <a:extLst>
              <a:ext uri="{FF2B5EF4-FFF2-40B4-BE49-F238E27FC236}">
                <ns2:creationId id="{D62A578B-C453-4BD2-AAE0-FFF10E375F8F}"/>
              </a:ext>
            </a:extLst>
          </p:cNvPr>
          <p:cNvSpPr>
            <a:spLocks noGrp="1"/>
          </p:cNvSpPr>
          <p:nvPr/>
        </p:nvSpPr>
        <p:spPr>
          <a:xfrm>
            <a:off x="914400" y="358140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00" b="0">
                <a:solidFill>
                  <a:srgbClr val="1F2933"/>
                </a:solidFill>
              </a:defRPr>
            </a:defPPr>
          </a:lstStyle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Gunakan untuk memahami kategori usaha, luaran, dan penilaian.</a:t>
            </a:r>
          </a:p>
        </p:txBody>
      </p:sp>
      <p:sp>
        <p:nvSpPr>
          <p:cNvPr id="11" name="">
            <a:extLst>
              <a:ext uri="{FF2B5EF4-FFF2-40B4-BE49-F238E27FC236}">
                <ns2:creationId id="{5233D50D-9C98-4756-8C18-312F46692D0E}"/>
              </a:ext>
            </a:extLst>
          </p:cNvPr>
          <p:cNvSpPr>
            <a:spLocks noGrp="1"/>
          </p:cNvSpPr>
          <p:nvPr/>
        </p:nvSpPr>
        <p:spPr>
          <a:xfrm>
            <a:off x="914400" y="4505325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800" b="0">
                <a:solidFill>
                  <a:srgbClr val="1F2933"/>
                </a:solidFill>
              </a:defRPr>
            </a:defPPr>
          </a:lstStyle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Bahan belajar: outline pematangan ide dan panduan menulis proposal</a:t>
            </a:r>
          </a:p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yang sudah tersedia dalam materi SMA Teladan.</a:t>
            </a:r>
          </a:p>
        </p:txBody>
      </p:sp>
      <p:sp>
        <p:nvSpPr>
          <p:cNvPr id="12" name="">
            <a:extLst>
              <a:ext uri="{FF2B5EF4-FFF2-40B4-BE49-F238E27FC236}">
                <ns2:creationId id="{6B810EAC-FAFC-414D-84CD-375E0F9349C7}"/>
              </a:ext>
            </a:extLst>
          </p:cNvPr>
          <p:cNvSpPr>
            <a:spLocks noGrp="1"/>
          </p:cNvSpPr>
          <p:nvPr/>
        </p:nvSpPr>
        <p:spPr>
          <a:xfrm>
            <a:off x="914400" y="5514975"/>
            <a:ext cx="10287000" cy="628650"/>
          </a:xfrm>
          <a:prstGeom prst="rect">
            <a:avLst/>
          </a:prstGeom>
          <a:solidFill>
            <a:srgbClr val="EAF3F8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39E2E831-FA04-4474-AEA3-053A6B97506C}"/>
              </a:ext>
            </a:extLst>
          </p:cNvPr>
          <p:cNvSpPr>
            <a:spLocks noGrp="1"/>
          </p:cNvSpPr>
          <p:nvPr/>
        </p:nvSpPr>
        <p:spPr>
          <a:xfrm>
            <a:off x="1066800" y="5629275"/>
            <a:ext cx="99822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 algn="l">
              <a:defRPr sz="1575" b="1">
                <a:solidFill>
                  <a:srgbClr val="16324F"/>
                </a:solidFill>
              </a:defRPr>
            </a:defPPr>
          </a:lstStyle>
          <a:p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Pedoman 2026 adalah referensi belajar. Periksa aturan tahun ajang yang akan diikuti.</a:t>
            </a:r>
          </a:p>
        </p:txBody>
      </p:sp>
    </p:spTree>
    <p:extLst>
      <p:ext uri="{BB962C8B-B14F-4D97-AF65-F5344CB8AC3E}">
        <ns4:creationId val="1470186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2026-10-15T00:40:24.9940000Z</dcterms:created>
  <dcterms:modified xsi:type="dcterms:W3CDTF">2026-10-15T00:40:24.9940000Z</dcterms:modified>
</coreProperties>
</file>