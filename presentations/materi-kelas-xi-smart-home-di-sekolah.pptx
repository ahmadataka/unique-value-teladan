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4b412e39f34cec" /><Relationship Type="http://schemas.openxmlformats.org/officeDocument/2006/relationships/extended-properties" Target="/docProps/app.xml" Id="R73ffac54e76e4515" /><Relationship Type="http://schemas.openxmlformats.org/officeDocument/2006/relationships/officeDocument" Target="/ppt/presentation.xml" Id="Rc68d9bd4838d4c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9d25ccf44242c5"/>
  </p:sldMasterIdLst>
  <p:notesMasterIdLst>
    <p:notesMasterId xmlns:r="http://schemas.openxmlformats.org/officeDocument/2006/relationships" r:id="R36d7bad582324b9c"/>
  </p:notesMasterIdLst>
  <p:sldIdLst>
    <p:sldId xmlns:r="http://schemas.openxmlformats.org/officeDocument/2006/relationships" id="256" r:id="Rc3bb6956b2334665"/>
    <p:sldId xmlns:r="http://schemas.openxmlformats.org/officeDocument/2006/relationships" id="257" r:id="Reca5b66e856d4de5"/>
    <p:sldId xmlns:r="http://schemas.openxmlformats.org/officeDocument/2006/relationships" id="258" r:id="Rcef0a8d0186b45ae"/>
    <p:sldId xmlns:r="http://schemas.openxmlformats.org/officeDocument/2006/relationships" id="259" r:id="R8d561cab31034254"/>
    <p:sldId xmlns:r="http://schemas.openxmlformats.org/officeDocument/2006/relationships" id="260" r:id="R12d2570eece1460f"/>
    <p:sldId xmlns:r="http://schemas.openxmlformats.org/officeDocument/2006/relationships" id="261" r:id="R3796ddd45a57447c"/>
    <p:sldId xmlns:r="http://schemas.openxmlformats.org/officeDocument/2006/relationships" id="262" r:id="Rb03b4cf20531477a"/>
    <p:sldId xmlns:r="http://schemas.openxmlformats.org/officeDocument/2006/relationships" id="263" r:id="R907ba1c0d16c4f31"/>
    <p:sldId xmlns:r="http://schemas.openxmlformats.org/officeDocument/2006/relationships" id="264" r:id="R0434f4191717466e"/>
    <p:sldId xmlns:r="http://schemas.openxmlformats.org/officeDocument/2006/relationships" id="265" r:id="R3e232f00f3064bc6"/>
    <p:sldId xmlns:r="http://schemas.openxmlformats.org/officeDocument/2006/relationships" id="266" r:id="R84b1411babcd49a5"/>
    <p:sldId xmlns:r="http://schemas.openxmlformats.org/officeDocument/2006/relationships" id="267" r:id="R2ed81e32afa947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db635258d84edc" /><Relationship Type="http://schemas.openxmlformats.org/officeDocument/2006/relationships/slideMaster" Target="/ppt/slideMasters/slideMaster1.xml" Id="R389d25ccf44242c5" /><Relationship Type="http://schemas.openxmlformats.org/officeDocument/2006/relationships/notesMaster" Target="/ppt/notesMasters/notesMaster1.xml" Id="R36d7bad582324b9c" /><Relationship Type="http://schemas.openxmlformats.org/officeDocument/2006/relationships/presProps" Target="/ppt/presProps.xml" Id="Rd2f7e68eba704f9b" /><Relationship Type="http://schemas.openxmlformats.org/officeDocument/2006/relationships/tableStyles" Target="/ppt/tableStyles.xml" Id="Rb72aeeb10ebf4090" /><Relationship Type="http://schemas.openxmlformats.org/officeDocument/2006/relationships/slide" Target="/ppt/slides/slide1.xml" Id="Rc3bb6956b2334665" /><Relationship Type="http://schemas.openxmlformats.org/officeDocument/2006/relationships/slide" Target="/ppt/slides/slide2.xml" Id="Reca5b66e856d4de5" /><Relationship Type="http://schemas.openxmlformats.org/officeDocument/2006/relationships/slide" Target="/ppt/slides/slide3.xml" Id="Rcef0a8d0186b45ae" /><Relationship Type="http://schemas.openxmlformats.org/officeDocument/2006/relationships/slide" Target="/ppt/slides/slide4.xml" Id="R8d561cab31034254" /><Relationship Type="http://schemas.openxmlformats.org/officeDocument/2006/relationships/slide" Target="/ppt/slides/slide5.xml" Id="R12d2570eece1460f" /><Relationship Type="http://schemas.openxmlformats.org/officeDocument/2006/relationships/slide" Target="/ppt/slides/slide6.xml" Id="R3796ddd45a57447c" /><Relationship Type="http://schemas.openxmlformats.org/officeDocument/2006/relationships/slide" Target="/ppt/slides/slide7.xml" Id="Rb03b4cf20531477a" /><Relationship Type="http://schemas.openxmlformats.org/officeDocument/2006/relationships/slide" Target="/ppt/slides/slide8.xml" Id="R907ba1c0d16c4f31" /><Relationship Type="http://schemas.openxmlformats.org/officeDocument/2006/relationships/slide" Target="/ppt/slides/slide9.xml" Id="R0434f4191717466e" /><Relationship Type="http://schemas.openxmlformats.org/officeDocument/2006/relationships/slide" Target="/ppt/slides/slide10.xml" Id="R3e232f00f3064bc6" /><Relationship Type="http://schemas.openxmlformats.org/officeDocument/2006/relationships/slide" Target="/ppt/slides/slide11.xml" Id="R84b1411babcd49a5" /><Relationship Type="http://schemas.openxmlformats.org/officeDocument/2006/relationships/slide" Target="/ppt/slides/slide12.xml" Id="R2ed81e32afa947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b5a25ec3c64f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9244770d4c409b" /><Relationship Type="http://schemas.openxmlformats.org/officeDocument/2006/relationships/notesMaster" Target="/ppt/notesMasters/notesMaster1.xml" Id="R90d2bb5944ee4c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e7d2d53ab04f24" /><Relationship Type="http://schemas.openxmlformats.org/officeDocument/2006/relationships/notesMaster" Target="/ppt/notesMasters/notesMaster1.xml" Id="Rfa078c06628e4b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5ba618d391442b" /><Relationship Type="http://schemas.openxmlformats.org/officeDocument/2006/relationships/notesMaster" Target="/ppt/notesMasters/notesMaster1.xml" Id="Rc0d5250c87cf46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96eeceecb5493e" /><Relationship Type="http://schemas.openxmlformats.org/officeDocument/2006/relationships/notesMaster" Target="/ppt/notesMasters/notesMaster1.xml" Id="Rf2d02d1622a4442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e658c3b4ed4a4f" /><Relationship Type="http://schemas.openxmlformats.org/officeDocument/2006/relationships/notesMaster" Target="/ppt/notesMasters/notesMaster1.xml" Id="Rad456194a70d44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41aba8174e476a" /><Relationship Type="http://schemas.openxmlformats.org/officeDocument/2006/relationships/notesMaster" Target="/ppt/notesMasters/notesMaster1.xml" Id="R235d9855c2c440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c2a101a6f4448d1" /><Relationship Type="http://schemas.openxmlformats.org/officeDocument/2006/relationships/notesMaster" Target="/ppt/notesMasters/notesMaster1.xml" Id="Rd01ca804184848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5fc25f6ddc44502" /><Relationship Type="http://schemas.openxmlformats.org/officeDocument/2006/relationships/notesMaster" Target="/ppt/notesMasters/notesMaster1.xml" Id="R89fbde2d4ccf457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abb6b7951d45d9" /><Relationship Type="http://schemas.openxmlformats.org/officeDocument/2006/relationships/notesMaster" Target="/ppt/notesMasters/notesMaster1.xml" Id="Rc3cd5f307bc543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d654c8bfd149a3" /><Relationship Type="http://schemas.openxmlformats.org/officeDocument/2006/relationships/notesMaster" Target="/ppt/notesMasters/notesMaster1.xml" Id="R128a7cc885984f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a4bfa319a584596" /><Relationship Type="http://schemas.openxmlformats.org/officeDocument/2006/relationships/notesMaster" Target="/ppt/notesMasters/notesMaster1.xml" Id="R8ddf39f4bf2044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893a103e1b41d0" /><Relationship Type="http://schemas.openxmlformats.org/officeDocument/2006/relationships/notesMaster" Target="/ppt/notesMasters/notesMaster1.xml" Id="R02ef4849f3bb42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Nest product: https://store.google.com/us/product/nest_learning_thermostat_4th_gen?hl=en-US</a:t>
            </a:r>
          </a:p>
          <a:p xmlns:a="http://schemas.openxmlformats.org/drawingml/2006/main">
            <a:r>
              <a:t>Nest guide: https://support.google.com/googlehome/answer/9248184?hl=en</a:t>
            </a:r>
          </a:p>
          <a:p xmlns:a="http://schemas.openxmlformats.org/drawingml/2006/main">
            <a:r>
              <a:t>Image source: https://termofol.co.uk/product/google-nest-smart-learning-thermostat-stainless-t200377-2nd-gen/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Aqara Motion Sensor P1: https://us.aqara.com/products/motion-sensor-p1</a:t>
            </a:r>
          </a:p>
          <a:p xmlns:a="http://schemas.openxmlformats.org/drawingml/2006/main">
            <a:r>
              <a:t>Aqara sensors: https://us.aqara.com/collections/smart-home-sensor</a:t>
            </a:r>
          </a:p>
          <a:p xmlns:a="http://schemas.openxmlformats.org/drawingml/2006/main">
            <a:r>
              <a:t>Image source: https://www.ecowizard.co.uk/smart-security/aqara-motion-sensor-p1/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Rachio products: https://rachio.com/products</a:t>
            </a:r>
          </a:p>
          <a:p xmlns:a="http://schemas.openxmlformats.org/drawingml/2006/main">
            <a:r>
              <a:t>Rachio quick start: https://support.rachio.com/en_us/rachio-smart-sprinkler-controller-quick-start-guide-rkmbECixZe</a:t>
            </a:r>
          </a:p>
          <a:p xmlns:a="http://schemas.openxmlformats.org/drawingml/2006/main">
            <a:r>
              <a:t>Image source: https://rachio.com/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Arduino Greenhouse Kit: https://www.arduino.cc/education/greenhouse/</a:t>
            </a:r>
          </a:p>
          <a:p xmlns:a="http://schemas.openxmlformats.org/drawingml/2006/main">
            <a:r>
              <a:t>Arduino Greenhouse Project: https://www.arduino.cc/education/greenhouse-project</a:t>
            </a:r>
          </a:p>
          <a:p xmlns:a="http://schemas.openxmlformats.org/drawingml/2006/main">
            <a:r>
              <a:t>Image source: https://technologieservices.fr/ts_fr/277630.html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0eb9ab89da41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f537d74c294917" /><Relationship Type="http://schemas.openxmlformats.org/officeDocument/2006/relationships/slideLayout" Target="/ppt/slideLayouts/slideLayout1.xml" Id="R75f2131787c64b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f2131787c64b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3efd952224176" /><Relationship Type="http://schemas.openxmlformats.org/officeDocument/2006/relationships/image" Target="/ppt/media/image.png" Id="R0283ce3838d94f15" /><Relationship Type="http://schemas.openxmlformats.org/officeDocument/2006/relationships/notesSlide" Target="/ppt/notesSlides/notesSlide1.xml" Id="R0a05565790cf46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c0d0afc30f4c2c" /><Relationship Type="http://schemas.openxmlformats.org/officeDocument/2006/relationships/image" Target="/ppt/media/image2.png" Id="Rddbfb5828aaa4d23" /><Relationship Type="http://schemas.openxmlformats.org/officeDocument/2006/relationships/notesSlide" Target="/ppt/notesSlides/notesSlide2.xml" Id="R3054e5d845594b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b8a4074e94e8c" /><Relationship Type="http://schemas.openxmlformats.org/officeDocument/2006/relationships/image" Target="/ppt/media/image3.png" Id="R6cb1357fb50d4ff2" /><Relationship Type="http://schemas.openxmlformats.org/officeDocument/2006/relationships/notesSlide" Target="/ppt/notesSlides/notesSlide3.xml" Id="Rf62875e80d2048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130ecfc6e74565" /><Relationship Type="http://schemas.openxmlformats.org/officeDocument/2006/relationships/image" Target="/ppt/media/image4.png" Id="R5555f0e2a71d465f" /><Relationship Type="http://schemas.openxmlformats.org/officeDocument/2006/relationships/notesSlide" Target="/ppt/notesSlides/notesSlide4.xml" Id="Rf07e83bd215f48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9080a11d94275" /><Relationship Type="http://schemas.openxmlformats.org/officeDocument/2006/relationships/image" Target="/ppt/media/image5.png" Id="Rc415e7f620ac4e34" /><Relationship Type="http://schemas.openxmlformats.org/officeDocument/2006/relationships/notesSlide" Target="/ppt/notesSlides/notesSlide5.xml" Id="Rc6710fe4f59c40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b047b8f52434b" /><Relationship Type="http://schemas.openxmlformats.org/officeDocument/2006/relationships/image" Target="/ppt/media/image6.png" Id="R9ba6c7bd07584d8c" /><Relationship Type="http://schemas.openxmlformats.org/officeDocument/2006/relationships/notesSlide" Target="/ppt/notesSlides/notesSlide6.xml" Id="Ra7e3989315a548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494c4c32e4ede" /><Relationship Type="http://schemas.openxmlformats.org/officeDocument/2006/relationships/image" Target="/ppt/media/image7.png" Id="Ra2982722ee564de0" /><Relationship Type="http://schemas.openxmlformats.org/officeDocument/2006/relationships/image" Target="/ppt/media/image.jpeg" Id="R0ba1a7c7b5094972" /><Relationship Type="http://schemas.openxmlformats.org/officeDocument/2006/relationships/hyperlink" Target="https://store.google.com/us/product/nest_learning_thermostat_4th_gen?hl=en-US" TargetMode="External" Id="Rafe9127105dd460c" /><Relationship Type="http://schemas.openxmlformats.org/officeDocument/2006/relationships/hyperlink" Target="https://store.google.com/us/product/nest_learning_thermostat_4th_gen?hl=en-US&amp;pli=1" TargetMode="External" Id="Rd9951a99ce814f6e" /><Relationship Type="http://schemas.openxmlformats.org/officeDocument/2006/relationships/notesSlide" Target="/ppt/notesSlides/notesSlide7.xml" Id="R2effc1dcff3943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c6839651f344c9" /><Relationship Type="http://schemas.openxmlformats.org/officeDocument/2006/relationships/image" Target="/ppt/media/image8.png" Id="R8cd79bd8e2104a8e" /><Relationship Type="http://schemas.openxmlformats.org/officeDocument/2006/relationships/image" Target="/ppt/media/image9.png" Id="R3770338212d54509" /><Relationship Type="http://schemas.openxmlformats.org/officeDocument/2006/relationships/hyperlink" Target="https://us.aqara.com/products/motion-sensor-p1" TargetMode="External" Id="Rec7f930c852c45e9" /><Relationship Type="http://schemas.openxmlformats.org/officeDocument/2006/relationships/hyperlink" Target="https://www.aqara.com/en/product/motion-sensor-p1/installation-video/" TargetMode="External" Id="R84eeb849634c4e0f" /><Relationship Type="http://schemas.openxmlformats.org/officeDocument/2006/relationships/notesSlide" Target="/ppt/notesSlides/notesSlide8.xml" Id="R7fb87dcededb44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ccf4b3b204bee" /><Relationship Type="http://schemas.openxmlformats.org/officeDocument/2006/relationships/image" Target="/ppt/media/image10.png" Id="Reb2a4082ae174792" /><Relationship Type="http://schemas.openxmlformats.org/officeDocument/2006/relationships/image" Target="/ppt/media/image11.png" Id="Rc86783a142574ff2" /><Relationship Type="http://schemas.openxmlformats.org/officeDocument/2006/relationships/hyperlink" Target="https://rachio.com/products/rachio-3" TargetMode="External" Id="R56ff5251942c496b" /><Relationship Type="http://schemas.openxmlformats.org/officeDocument/2006/relationships/hyperlink" Target="https://go.rachio.com/srp/" TargetMode="External" Id="Re1597c2b72a84f25" /><Relationship Type="http://schemas.openxmlformats.org/officeDocument/2006/relationships/notesSlide" Target="/ppt/notesSlides/notesSlide9.xml" Id="R211f7f819dab4e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d1fa5edeaa49cd" /><Relationship Type="http://schemas.openxmlformats.org/officeDocument/2006/relationships/image" Target="/ppt/media/image12.png" Id="R1baf082961ba4edc" /><Relationship Type="http://schemas.openxmlformats.org/officeDocument/2006/relationships/image" Target="/ppt/media/image2.jpeg" Id="Ra10ea89e0caa493c" /><Relationship Type="http://schemas.openxmlformats.org/officeDocument/2006/relationships/hyperlink" Target="https://www.arduino.cc/education/greenhouse/" TargetMode="External" Id="Ref00611ff1dc4d7d" /><Relationship Type="http://schemas.openxmlformats.org/officeDocument/2006/relationships/hyperlink" Target="https://www.arduino.cc/education/greenhouse-project" TargetMode="External" Id="R1586f9c486c741bd" /><Relationship Type="http://schemas.openxmlformats.org/officeDocument/2006/relationships/notesSlide" Target="/ppt/notesSlides/notesSlide10.xml" Id="R7e02df3b7cdc40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e2e51fb9d493c" /><Relationship Type="http://schemas.openxmlformats.org/officeDocument/2006/relationships/image" Target="/ppt/media/image13.png" Id="Rc25f257f00624bc1" /><Relationship Type="http://schemas.openxmlformats.org/officeDocument/2006/relationships/notesSlide" Target="/ppt/notesSlides/notesSlide11.xml" Id="Re437c33a54e249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412b1bb9a4e8b" /><Relationship Type="http://schemas.openxmlformats.org/officeDocument/2006/relationships/image" Target="/ppt/media/image14.png" Id="R64bcf80e044c4a19" /><Relationship Type="http://schemas.openxmlformats.org/officeDocument/2006/relationships/notesSlide" Target="/ppt/notesSlides/notesSlide12.xml" Id="R055af4b8fbfc49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3ce3838d94f15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F4EC3-944F-46BE-8525-839A0091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47625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694A0-890E-49D6-A6DE-4A0D9A158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085850"/>
            <a:ext cx="5734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80788-68FD-412F-82C5-281029B6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77A"/>
                </a:solidFill>
              </a:defRPr>
            </a:pPr>
            <a:r>
              <a:rPr sz="1800" b="1">
                <a:solidFill>
                  <a:srgbClr val="24577A"/>
                </a:solidFill>
              </a:rPr>
              <a:t>Materi Kelas XI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577757-A232-42E7-BA85-4A598078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400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</a:defRPr>
            </a:pPr>
            <a:r>
              <a:rPr sz="3300" b="1">
                <a:solidFill>
                  <a:srgbClr val="16324F"/>
                </a:solidFill>
              </a:rPr>
              <a:t>Smart Home</a:t>
            </a:r>
          </a:p>
          <a:p xmlns:a="http://schemas.openxmlformats.org/drawingml/2006/main">
            <a:pPr algn="l">
              <a:defRPr sz="3300" b="1">
                <a:solidFill>
                  <a:srgbClr val="16324F"/>
                </a:solidFill>
              </a:defRPr>
            </a:pPr>
            <a:r>
              <a:rPr sz="3300" b="1">
                <a:solidFill>
                  <a:srgbClr val="16324F"/>
                </a:solidFill>
              </a:rPr>
              <a:t> di Sekolah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5CAB23-4D7B-4782-8CEF-63434CEA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3924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Lanjutan dari ide IoT menuju sistem pintar yang lebih utuh untuk sekolah dan greenhouse.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BF114-92A8-4A36-97F5-F545680D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4762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Di sesi ini, ide kelompok kalian jadi titik awal. Lalu kita pelajari bagaimana sensor, kontrol, dan aksi otomatis bisa digabung menjadi sistem yang benar-benar berguna.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06C45-0CD3-4ADA-9979-7050F7FF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4000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Fokus deck: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Presentasi ide awal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Smart school system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Produk nyata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Etika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Tugas lanjutan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F7799-ECBB-49E8-91F8-E60382C2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C3D15-6CCB-43B7-B494-2B386758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5BF82-2049-4836-8E98-D049B2D9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375510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fb5828aaa4d23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8950FC-EBAB-4857-9CB8-F015FF67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2DC03-8D73-4FC2-AEA0-A93BBAF8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Kita Mulai dari Ide Kalian Dulu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442D2-03C9-4A27-BEC7-6834DCAF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04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A60494-6918-4CE2-8E27-AF1BD4AE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38300"/>
            <a:ext cx="9505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Setiap kelompok mempresentasikan ide IoT dari tugas sebelumnya secara singkat.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CD81E1-F2ED-4D43-B17A-709DA48F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38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315E1-D966-4F6D-AD9A-84BF28D8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9505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Fokus presentasi: masalah yang ingin dibantu, sensor atau alat yang dipakai, manfaat, dan tantangan.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B124B4-AF64-47A1-89C7-AA8A01CE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4105C-9300-4DB6-A5DB-B58E44A9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05100"/>
            <a:ext cx="9505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Setelah itu, kelas mencari pola bersama: efisiensi energi, keamanan, kenyamanan, monitoring, dan keberlanjutan.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7F7577-EBC9-4B5F-83EE-166F9901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287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A00CF-6986-4C15-8B1D-DAF0F68E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86350"/>
            <a:ext cx="9753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Tujuan pembuka ini sederhana: kita tidak mulai dari teori kosong. Kalian sudah punya ide, sekarang kita bikin ide itu lebih matang.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94724-2A80-446F-8217-D074F497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8FE694-EF2D-4FBF-8862-F463E888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924F1-2696-4E77-9D6D-1656D84D5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230494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b1357fb50d4ff2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40777-B514-4112-9639-16F6F4E2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28C65-D519-483E-BEE2-C3413E91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IoT Adalah Bahan, Smart School Adalah Sistem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9BD821-85B7-4AA0-9574-FEFC4B68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45720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F50F46-5028-443C-941E-8A71688C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14500"/>
            <a:ext cx="4229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IoT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3B97AC-F557-4F9D-A302-8A2107D0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14550"/>
            <a:ext cx="42291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Sensor, alat, dan perangkat yang bisa membaca kondisi, mengirim data, lalu membantu aksi. Satu sensor saja belum otomatis menjadi smart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28FC74-3CBF-4344-A3B2-A1241A8E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543050"/>
            <a:ext cx="541020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EC253-003F-4D50-AA1D-B21B125D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714500"/>
            <a:ext cx="506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Smart School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BAA3A-FAF3-4F14-9DC3-1074BDCA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14550"/>
            <a:ext cx="50673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Gabungan banyak komponen yang bekerja sama: sensor, controller, dashboard, dan actuator. Fokusnya bukan alat tunggal, tetapi manfaat sistem bagi sekolah.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E07A1B-D00A-4C7A-B134-DC1487D9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Sekolah bisa dipandang sebagai rumah besar: ada ruang kelas, taman, greenhouse, listrik, air, dan keamanan yang semuanya bisa dikelola lebih cerdas.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4C67C-9511-4B35-BF32-8CE26706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C1D298-2137-43C3-BBFF-1A60E0E2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ABA71D-D7D8-4F3C-9AE2-B508F46F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882766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5f0e2a71d465f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088F7-A722-40B9-8CC0-7F49DE602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6B708-A100-44A8-B516-B9A771AE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Komponen Inti Smart School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53F227-4463-4B9A-9D3E-AD575F2E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CE670-F11B-4371-99B2-ED5247244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Sensor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062D7-328E-4388-BD07-1E5C766E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00200"/>
            <a:ext cx="7505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Membaca suhu, cahaya, gerak, pintu, kelembapan tanah, atau kondisi ruang.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CEA96-9194-4FCE-B930-DE513DEB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56475-FA4C-4820-B5F6-C09E3117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38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Controller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5F989-F82A-4890-BEB0-5CF14344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38400"/>
            <a:ext cx="7505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Mengolah data dan memutuskan aturan aksi sistem.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FDE2C-A895-44AF-B3A0-BD733276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B43A64-ABF1-4B4B-BB1F-1D73DFFA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Koneksi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F1B9D-04E5-4994-A450-790BE0DC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76600"/>
            <a:ext cx="7505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Menghubungkan alat ke dashboard atau aplikasi pemantau.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04060B-4EA3-47E1-AA46-9FC96789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80476E-9E9C-4C56-97A3-B2BBC1A5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Actuator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D0E1F-8FD0-4FD5-AB68-7D0FB8194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14800"/>
            <a:ext cx="7505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Menyalakan lampu, kipas, pompa, buzzer, atau perangkat lain.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4EB185-BE10-42F6-B059-CFCB54C4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5EEFE-953F-4C9E-BA14-BE79624E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AD7352-ADB0-4C77-AF82-33DA240D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53000"/>
            <a:ext cx="7505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Menampilkan data supaya manusia bisa memantau dan mengevaluasi.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C7154-3BC0-405F-8EA5-83807B84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5A3E76-E295-4F5B-937C-AFD922B1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1F0504-24E8-48C5-B3F5-1BEA47E0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786748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5e7f620ac4e34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7AF643-5C85-459A-8754-F4D4FCF6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4EF6B-6114-4686-8C5E-E1612B60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Diagram Sederhana: Bagaimana Smart School Bekerja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CC4D31-8863-4B98-9A80-87AB01E6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62200"/>
            <a:ext cx="1619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7F86CF-3762-4987-88C0-5127F6A6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Sensor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7C4C82-1EC7-4B1D-AD45-B3851556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1314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Suhu, cahaya,</a:t>
            </a:r>
          </a:p>
          <a:p xmlns:a="http://schemas.openxmlformats.org/drawingml/2006/main">
            <a:pPr algn="ctr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gerak, pintu,</a:t>
            </a:r>
          </a:p>
          <a:p xmlns:a="http://schemas.openxmlformats.org/drawingml/2006/main">
            <a:pPr algn="ctr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kelembapan tanah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1425E-0096-43DF-AE01-05C41C47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62200"/>
            <a:ext cx="1619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6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C3650D-EF35-45A6-915F-E56E88CB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5717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Controller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647256-EDFB-459D-A9B9-CFD89E95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028950"/>
            <a:ext cx="1314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ESP32 / Arduino</a:t>
            </a:r>
          </a:p>
          <a:p xmlns:a="http://schemas.openxmlformats.org/drawingml/2006/main">
            <a:pPr algn="ctr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membaca aturan</a:t>
            </a:r>
          </a:p>
          <a:p xmlns:a="http://schemas.openxmlformats.org/drawingml/2006/main">
            <a:pPr algn="ctr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dan logika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AFFF1A-C743-4194-AD83-BFF23997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62200"/>
            <a:ext cx="1619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11430">
            <a:solidFill>
              <a:srgbClr val="C8D6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5B2F2-50FA-4F0D-A765-9B29A682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5717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Dashboard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EC70C-B4A9-40FF-A8F2-BAAC85AF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28950"/>
            <a:ext cx="1314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Data tampil di</a:t>
            </a:r>
          </a:p>
          <a:p xmlns:a="http://schemas.openxmlformats.org/drawingml/2006/main">
            <a:pPr algn="ctr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ponsel atau web</a:t>
            </a:r>
          </a:p>
          <a:p xmlns:a="http://schemas.openxmlformats.org/drawingml/2006/main">
            <a:pPr algn="ctr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untuk dipantau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3CD94-C289-4957-A920-0749BB86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62200"/>
            <a:ext cx="1619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6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766DD-CD05-4712-B12E-9EEA268A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717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Actuator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BE5CF-88C6-4572-A3F4-4B3FA5B2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28950"/>
            <a:ext cx="1314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Lampu, kipas,</a:t>
            </a:r>
          </a:p>
          <a:p xmlns:a="http://schemas.openxmlformats.org/drawingml/2006/main">
            <a:pPr algn="ctr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pompa, buzzer</a:t>
            </a:r>
          </a:p>
          <a:p xmlns:a="http://schemas.openxmlformats.org/drawingml/2006/main">
            <a:pPr algn="ctr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menjalankan aksi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0874A-97C0-44E5-9A70-0FD685808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62200"/>
            <a:ext cx="1619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C8D6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6AAEE4-6A05-4353-9E50-2444E666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57175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Pengguna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29156E-7DC7-4679-ABA3-D3AB7EA1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028950"/>
            <a:ext cx="13144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Guru / siswa</a:t>
            </a:r>
          </a:p>
          <a:p xmlns:a="http://schemas.openxmlformats.org/drawingml/2006/main">
            <a:pPr algn="ctr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memeriksa data</a:t>
            </a:r>
          </a:p>
          <a:p xmlns:a="http://schemas.openxmlformats.org/drawingml/2006/main">
            <a:pPr algn="ctr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dan mengevaluasi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B3603C-7CEC-424A-9DA6-4CC270228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57500"/>
            <a:ext cx="3238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7A3077-0DEC-4F35-A09A-11F5E5FB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857500"/>
            <a:ext cx="3238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2A900-BAAA-49C0-91F6-27C7F7D9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857500"/>
            <a:ext cx="3238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F8C987-F5A9-47BF-844E-E11C03AD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857500"/>
            <a:ext cx="3238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63A7CE-8745-4312-A806-CF7BCF8A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29150"/>
            <a:ext cx="10382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AF5D36-F713-4436-9588-AF95F204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9585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Contoh alur: sensor suhu ruang membaca kondisi kelas -&gt; controller memutuskan kipas perlu aktif -&gt; dashboard menampilkan perubahan -&gt; guru bisa memantau apakah sistemnya benar-benar membantu.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612DC7-20DF-4EE0-BAEF-5B734C17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8C3E0E-0BE4-44D7-ADD1-828BC70C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702484-0D28-4627-A58B-F8EFE22D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25678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6c7bd07584d8c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318AA-0304-41F5-97C7-6AB92613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A96E4-6552-48FD-8184-F2A27617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Use Case yang Masuk Akal untuk Sekolah dan Greenhouse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9B9C04-F103-4C72-BADE-905FC5E0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66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DF8DE-2AED-498C-9610-AD06FA5FB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00200"/>
            <a:ext cx="9505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Lampu atau kipas otomatis untuk efisiensi energi di ruang kelas.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A2678E-FC9F-4D57-BCBF-F092E786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0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FB4C7-3F65-41D7-B2B0-8BCA4288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33600"/>
            <a:ext cx="9505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Monitoring suhu dan kondisi udara agar ruang belajar lebih nyaman.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86623-0F37-4C3E-BBAA-1CA0C7055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33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31BD9-293F-4B88-BD7D-998C747D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0"/>
            <a:ext cx="9505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Sensor pintu atau gerak untuk keamanan ruangan tertentu.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30996F-BA2E-4DAC-B0E3-C5C3828C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67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3AA3B-AC44-4029-88B5-ED9FC7A7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9505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Penyiraman greenhouse otomatis berbasis kelembapan tanah.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372DAA-74DE-4B10-8523-6F549575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00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98C235-3F80-4971-A7EF-EA934DA5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9505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Dashboard sederhana untuk membaca data dan mengevaluasi kebiasaan penggunaan energi atau air.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CF482-D141-4BDD-9BDD-0C819D2F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1028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37880-A1F6-4CC1-99DE-F1568D35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673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Pertanyaan penting: masalah nyata apa yang paling layak dibantu lebih dulu di lingkungan sekolah?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45E316-84B5-43DD-BA9E-E9BCC1D5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C443E8-FABF-4DB9-9698-77330248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1F1521-CCC2-4B41-839B-7FE51271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83962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82722ee564de0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7B5E6-586C-47AD-83DA-0DF57517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BE534-38D6-45A2-9479-BE2BC782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Produk Nyata: Google Nest Learning Thermostat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75491-34B3-4185-9307-15138C08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47800"/>
            <a:ext cx="4000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1a7c7b5094972"/>
          <a:stretch xmlns:a="http://schemas.openxmlformats.org/drawingml/2006/main"/>
        </p:blipFill>
        <p:spPr>
          <a:xfrm xmlns:a="http://schemas.openxmlformats.org/drawingml/2006/main">
            <a:off x="1659307" y="1695450"/>
            <a:ext cx="2510686" cy="2571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FF3A3-7672-4780-A15A-4087B221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76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770"/>
                </a:solidFill>
              </a:defRPr>
            </a:pPr>
            <a:r>
              <a:rPr sz="1200" b="1">
                <a:solidFill>
                  <a:srgbClr val="5B6770"/>
                </a:solidFill>
              </a:rPr>
              <a:t>Tampilan produk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4B8905-841E-4529-B196-6FBB1D5B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60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24F"/>
                </a:solidFill>
              </a:defRPr>
            </a:pPr>
            <a:r>
              <a:rPr sz="2250" b="1">
                <a:solidFill>
                  <a:srgbClr val="16324F"/>
                </a:solidFill>
              </a:rPr>
              <a:t>Google Nest Learning Thermostat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D0FFA-F814-4163-B5A6-970B9177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71700"/>
            <a:ext cx="560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Termostat pintar yang mempelajari preferensi suhu dan membantu penghematan energi.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74B07-77AE-4D70-94F7-436EE5E50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81350"/>
            <a:ext cx="52578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Visual produk ini penting agar siswa membayangkan bentuk nyata alat kontrol suhu yang sering hanya dibahas sebagai konsep.</a:t>
            </a:r>
          </a:p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Mudah dipakai untuk menjelaskan sensor suhu, keputusan otomatis, dan kenyamanan ruang belajar.</a:t>
            </a:r>
          </a:p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Bisa jadi inspirasi ide smart classroom, walau versi sekolah tentu perlu disesuaikan dengan fasilitas yang ada.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38F709-ABC9-4A2D-942E-8F813479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Link yang bisa dibuka: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4C624-5000-491C-A9EF-BD16E3FA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97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Aft>
                <a:spcPts val="3"/>
              </a:spcAft>
            </a:pPr>
            <a:r>
              <a:rPr sz="1500" b="1">
                <a:solidFill>
                  <a:srgbClr val="16324F"/>
                </a:solidFill>
              </a:rPr>
              <a:t>Produk resmi: </a:t>
            </a:r>
            <a:r>
              <a:rPr sz="1500" u="sng">
                <a:solidFill>
                  <a:srgbClr val="2563EB"/>
                </a:solidFill>
                <a:hlinkClick xmlns:r="http://schemas.openxmlformats.org/officeDocument/2006/relationships" r:id="Rafe9127105dd460c"/>
              </a:rPr>
              <a:t>Nest Thermostat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1500" b="1">
                <a:solidFill>
                  <a:srgbClr val="16324F"/>
                </a:solidFill>
              </a:rPr>
              <a:t>Video / demo: </a:t>
            </a:r>
            <a:r>
              <a:rPr sz="1500" u="sng">
                <a:solidFill>
                  <a:srgbClr val="2563EB"/>
                </a:solidFill>
                <a:hlinkClick xmlns:r="http://schemas.openxmlformats.org/officeDocument/2006/relationships" r:id="Rd9951a99ce814f6e"/>
              </a:rPr>
              <a:t>Demo di halaman produk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A25E98-89F4-43D8-A76F-911C3898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A9A67-5ED9-40B5-BE3C-7A11711E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890B09-1B6D-4FD8-949F-780374F7B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382694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d79bd8e2104a8e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00EA3-4CA0-4FFC-949C-E9E5B567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99FFF-BA1D-4959-A6B9-016D432F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Produk Nyata: Aqara Sensors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D73B8F-484B-4D6E-A6BF-C083C096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47800"/>
            <a:ext cx="4000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0338212d54509"/>
          <a:stretch xmlns:a="http://schemas.openxmlformats.org/drawingml/2006/main"/>
        </p:blipFill>
        <p:spPr>
          <a:xfrm xmlns:a="http://schemas.openxmlformats.org/drawingml/2006/main">
            <a:off x="1200150" y="1695450"/>
            <a:ext cx="3429000" cy="2571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A2991-25A8-47CA-9AA1-86D18FFA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76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770"/>
                </a:solidFill>
              </a:defRPr>
            </a:pPr>
            <a:r>
              <a:rPr sz="1200" b="1">
                <a:solidFill>
                  <a:srgbClr val="5B6770"/>
                </a:solidFill>
              </a:rPr>
              <a:t>Tampilan produk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FF94A7-2187-4744-B66A-92D227AB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60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24F"/>
                </a:solidFill>
              </a:defRPr>
            </a:pPr>
            <a:r>
              <a:rPr sz="2250" b="1">
                <a:solidFill>
                  <a:srgbClr val="16324F"/>
                </a:solidFill>
              </a:rPr>
              <a:t>Aqara Motion Sensor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8BE86-E3C0-4BD8-98BD-687ED3B3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71700"/>
            <a:ext cx="560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Contoh sensor gerak yang menunjukkan bagaimana perangkat kecil bisa menjadi input penting bagi sistem pintar.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B297FF-B443-4DCF-A275-EF9F45D9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81350"/>
            <a:ext cx="52578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Visual ini membantu siswa melihat bahwa sensor adalah benda fisik yang konkret, bukan sekadar istilah di diagram.</a:t>
            </a:r>
          </a:p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Mudah dikaitkan dengan ide keamanan ruang, lampu otomatis, atau notifikasi akses.</a:t>
            </a:r>
          </a:p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Sekaligus membuka diskusi penting tentang privasi, batas pemantauan, dan kebutuhan nyata.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6EAAFB-C672-4237-95FE-C2423105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Link yang bisa dibuka: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46F826-6803-455B-909C-D5C92EFC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97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Aft>
                <a:spcPts val="3"/>
              </a:spcAft>
            </a:pPr>
            <a:r>
              <a:rPr sz="1500" b="1">
                <a:solidFill>
                  <a:srgbClr val="16324F"/>
                </a:solidFill>
              </a:rPr>
              <a:t>Produk resmi: </a:t>
            </a:r>
            <a:r>
              <a:rPr sz="1500" u="sng">
                <a:solidFill>
                  <a:srgbClr val="2563EB"/>
                </a:solidFill>
                <a:hlinkClick xmlns:r="http://schemas.openxmlformats.org/officeDocument/2006/relationships" r:id="Rec7f930c852c45e9"/>
              </a:rPr>
              <a:t>Motion Sensor P1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1500" b="1">
                <a:solidFill>
                  <a:srgbClr val="16324F"/>
                </a:solidFill>
              </a:rPr>
              <a:t>Video / demo: </a:t>
            </a:r>
            <a:r>
              <a:rPr sz="1500" u="sng">
                <a:solidFill>
                  <a:srgbClr val="2563EB"/>
                </a:solidFill>
                <a:hlinkClick xmlns:r="http://schemas.openxmlformats.org/officeDocument/2006/relationships" r:id="R84eeb849634c4e0f"/>
              </a:rPr>
              <a:t>Installation video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558B19-1BBE-40DC-ACF2-D46CA932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59D965-AA3A-4B20-BD46-B190638B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1BD14-593D-4478-8237-814E4E6F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637681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2a4082ae174792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98C00-2015-459B-AF6F-F71D8163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6FD63-A97E-47E3-82E7-D15AEEAB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Produk Nyata: Rachio Smart Sprinkler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A3629-7FFF-4C56-9DA9-5E6301C9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47800"/>
            <a:ext cx="4000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783a142574ff2"/>
          <a:stretch xmlns:a="http://schemas.openxmlformats.org/drawingml/2006/main"/>
        </p:blipFill>
        <p:spPr>
          <a:xfrm xmlns:a="http://schemas.openxmlformats.org/drawingml/2006/main">
            <a:off x="1123950" y="1735502"/>
            <a:ext cx="3581400" cy="249164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707C8-A057-4521-8F65-68B3A96C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76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770"/>
                </a:solidFill>
              </a:defRPr>
            </a:pPr>
            <a:r>
              <a:rPr sz="1200" b="1">
                <a:solidFill>
                  <a:srgbClr val="5B6770"/>
                </a:solidFill>
              </a:rPr>
              <a:t>Tampilan produk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C67EF-28B4-4DDE-A814-D941FAC5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60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24F"/>
                </a:solidFill>
              </a:defRPr>
            </a:pPr>
            <a:r>
              <a:rPr sz="2250" b="1">
                <a:solidFill>
                  <a:srgbClr val="16324F"/>
                </a:solidFill>
              </a:rPr>
              <a:t>Rachio Smart Sprinkler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43DC20-2D14-4DFB-A28E-88A7BDF90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71700"/>
            <a:ext cx="560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Contoh sistem penyiraman pintar yang menggabungkan controller dan aplikasi untuk pengelolaan air.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0F6F3-E6E1-4472-8D88-8812A339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81350"/>
            <a:ext cx="52578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Visual ini membantu siswa melihat hubungan antara hardware dan aplikasi pemantau di ponsel.</a:t>
            </a:r>
          </a:p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Sangat cocok untuk ide greenhouse, taman sekolah, atau area tanam berbasis data.</a:t>
            </a:r>
          </a:p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Mudah dipakai untuk diskusi tentang efisiensi air dan keberlanjutan.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94F221-E34A-43B9-A2C5-D7AFA9A4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Link yang bisa dibuka: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DCA1F-68BD-480B-8F69-A64108E2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97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Aft>
                <a:spcPts val="3"/>
              </a:spcAft>
            </a:pPr>
            <a:r>
              <a:rPr sz="1500" b="1">
                <a:solidFill>
                  <a:srgbClr val="16324F"/>
                </a:solidFill>
              </a:rPr>
              <a:t>Produk resmi: </a:t>
            </a:r>
            <a:r>
              <a:rPr sz="1500" u="sng">
                <a:solidFill>
                  <a:srgbClr val="2563EB"/>
                </a:solidFill>
                <a:hlinkClick xmlns:r="http://schemas.openxmlformats.org/officeDocument/2006/relationships" r:id="R56ff5251942c496b"/>
              </a:rPr>
              <a:t>Rachio 3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1500" b="1">
                <a:solidFill>
                  <a:srgbClr val="16324F"/>
                </a:solidFill>
              </a:rPr>
              <a:t>Video / demo: </a:t>
            </a:r>
            <a:r>
              <a:rPr sz="1500" u="sng">
                <a:solidFill>
                  <a:srgbClr val="2563EB"/>
                </a:solidFill>
                <a:hlinkClick xmlns:r="http://schemas.openxmlformats.org/officeDocument/2006/relationships" r:id="Re1597c2b72a84f25"/>
              </a:rPr>
              <a:t>Rachio demo page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F6FAD0-10D3-4D4A-A219-7AC646BA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AEFF17-11C1-4484-A78E-977444E2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EC70F-D619-44C4-97DD-0BC13215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8548135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af082961ba4edc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2FF47-8145-4F15-AA35-DEB604F3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0F467-A4F1-47A5-AF9B-5ACB8655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Produk Nyata: Arduino Greenhouse Kit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E8C3C-62A6-4C31-A988-E4F019AE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47800"/>
            <a:ext cx="4000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ea89e0caa493c"/>
          <a:stretch xmlns:a="http://schemas.openxmlformats.org/drawingml/2006/main"/>
        </p:blipFill>
        <p:spPr>
          <a:xfrm xmlns:a="http://schemas.openxmlformats.org/drawingml/2006/main">
            <a:off x="1628775" y="1695450"/>
            <a:ext cx="2571750" cy="2571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211D5-036C-4BCD-BD65-4DEAC38D0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767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6770"/>
                </a:solidFill>
              </a:defRPr>
            </a:pPr>
            <a:r>
              <a:rPr sz="1200" b="1">
                <a:solidFill>
                  <a:srgbClr val="5B6770"/>
                </a:solidFill>
              </a:rPr>
              <a:t>Tampilan produk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6702A-AD15-4010-A54D-51E1A4BE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76400"/>
            <a:ext cx="5600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24F"/>
                </a:solidFill>
              </a:defRPr>
            </a:pPr>
            <a:r>
              <a:rPr sz="2250" b="1">
                <a:solidFill>
                  <a:srgbClr val="16324F"/>
                </a:solidFill>
              </a:rPr>
              <a:t>Arduino Greenhouse Kit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78C5F-5EE9-492F-875E-6D3562D8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171700"/>
            <a:ext cx="56007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Kit edukasi greenhouse yang memperlihatkan sensor, pompa, kontrol, dan lingkungan tanam dalam satu sistem.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BAF775-CEFF-407F-BB4F-DCA76DC0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81350"/>
            <a:ext cx="52578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Visual ini penting karena siswa bisa langsung melihat bahwa smart greenhouse bukan ide abstrak, tetapi sistem yang bisa dirakit.</a:t>
            </a:r>
          </a:p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Mudah dipakai untuk menjelaskan hubungan sensor, dashboard, relay, pompa, dan tanaman.</a:t>
            </a:r>
          </a:p>
          <a:p xmlns:a="http://schemas.openxmlformats.org/drawingml/2006/main">
            <a:pPr algn="l">
              <a:defRPr sz="1350">
                <a:solidFill>
                  <a:srgbClr val="1F2933"/>
                </a:solidFill>
              </a:defRPr>
            </a:pPr>
            <a:r>
              <a:rPr sz="1350">
                <a:solidFill>
                  <a:srgbClr val="1F2933"/>
                </a:solidFill>
              </a:rPr>
              <a:t>• Sangat cocok untuk proyek sustainability sekolah dan ideation berbasis data nyata.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F7B3C-A885-4EFF-862F-4C8228EA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24F"/>
                </a:solidFill>
              </a:defRPr>
            </a:pPr>
            <a:r>
              <a:rPr sz="1350" b="1">
                <a:solidFill>
                  <a:srgbClr val="16324F"/>
                </a:solidFill>
              </a:rPr>
              <a:t>Link yang bisa dibuka: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EECB3-C14B-4A73-B003-66BC2262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9700"/>
            <a:ext cx="514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Aft>
                <a:spcPts val="3"/>
              </a:spcAft>
            </a:pPr>
            <a:r>
              <a:rPr sz="1500" b="1">
                <a:solidFill>
                  <a:srgbClr val="16324F"/>
                </a:solidFill>
              </a:rPr>
              <a:t>Produk resmi: </a:t>
            </a:r>
            <a:r>
              <a:rPr sz="1500" u="sng">
                <a:solidFill>
                  <a:srgbClr val="2563EB"/>
                </a:solidFill>
                <a:hlinkClick xmlns:r="http://schemas.openxmlformats.org/officeDocument/2006/relationships" r:id="Ref00611ff1dc4d7d"/>
              </a:rPr>
              <a:t>Arduino Greenhouse Kit</a:t>
            </a:r>
          </a:p>
          <a:p xmlns:a="http://schemas.openxmlformats.org/drawingml/2006/main">
            <a:pPr>
              <a:spcAft>
                <a:spcPts val="3"/>
              </a:spcAft>
            </a:pPr>
            <a:r>
              <a:rPr sz="1500" b="1">
                <a:solidFill>
                  <a:srgbClr val="16324F"/>
                </a:solidFill>
              </a:rPr>
              <a:t>Demo / project: </a:t>
            </a:r>
            <a:r>
              <a:rPr sz="1500" u="sng">
                <a:solidFill>
                  <a:srgbClr val="2563EB"/>
                </a:solidFill>
                <a:hlinkClick xmlns:r="http://schemas.openxmlformats.org/officeDocument/2006/relationships" r:id="R1586f9c486c741bd"/>
              </a:rPr>
              <a:t>Greenhouse Project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4EB08C-8AF9-4D16-B33C-B3AE23B8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B2151F-BAEB-4C73-A1A0-7E9738B8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DEA115-DE17-48E8-85E7-D34205C5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58120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f257f00624bc1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576AA-BFAA-4EA9-8FEC-07E64B6AC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1C022-CF4F-49B6-B043-5D3D2538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Sistem Pintar Tetap Perlu Etika dan Batas yang Jelas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82210-E72D-4DC8-B650-7762ACE8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85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AF755-1AF9-492D-BFC2-97FD2144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19250"/>
            <a:ext cx="9505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Jangan mengumpulkan data yang tidak perlu.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68C68-E974-4BBB-B73A-939B247A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19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AAB37B-9C1F-46E5-A778-42B0FE00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52650"/>
            <a:ext cx="9505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Pikirkan privasi jika sistem menyentuh area pemantauan orang atau ruang pribadi.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76A28-17F9-4570-98C8-927A7CD5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52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E6F7E-70CB-43FA-9692-AAB376B7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86050"/>
            <a:ext cx="9505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Perhatikan keamanan akses jika alat bisa menyalakan perangkat, membuka ruang, atau mengirim notifikasi.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8ACFF8-FC83-4D57-98C9-D312A0C3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86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588F94-BF52-4CA7-A793-A6A76C81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19450"/>
            <a:ext cx="9505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Rancang juga skenario gagal: apa yang terjadi jika sensor salah membaca atau koneksi putus?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01115-D98B-4B5E-AFE5-5AE7C832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9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A6F7F-AA28-4012-947F-FF338989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52850"/>
            <a:ext cx="9505950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Teknologi harus membantu keputusan manusia, bukan membuat pengguna pasif.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5E364-AEAB-450C-AEBC-C5ECEE87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102870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B232C2-FA5C-4E09-A2A1-35A79052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2925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Pertanyaan kunci: sistem pintar yang baik itu aman, berguna, masuk akal, dan bisa dipertanggungjawabkan.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60ADA5-38F2-441E-BB7F-19607078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00F89-10A7-4D1C-ACE8-625F3D93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7C7F44-BC97-4B60-A152-293EA279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9766569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cf80e044c4a19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C82C45-F639-49A3-AFCE-EF5DEA20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7955F-5740-4273-A2FC-CEF95099F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Tugas Kelompok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C6225B-91D7-4A46-AA31-86142092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324F"/>
                </a:solidFill>
              </a:defRPr>
            </a:pPr>
            <a:r>
              <a:rPr sz="2100" b="1">
                <a:solidFill>
                  <a:srgbClr val="16324F"/>
                </a:solidFill>
              </a:rPr>
              <a:t>Menyempurnakan ide menjadi konsep Smart School atau Smart Greenhouse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161A7-E257-4D8E-ACC1-A730AB71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38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B571A9-C6FE-427B-A7B3-536B8EDB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71700"/>
            <a:ext cx="95059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Ambil kembali ide IoT kelompok dari pertemuan sebelumnya.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9201C-F23C-4E9D-B860-DEDB28F31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33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3018A-00BD-4C42-963B-0B7BE26FC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67000"/>
            <a:ext cx="95059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Pilih arah proyek: smart school atau smart greenhouse.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EB5C0A-C289-4075-A9C8-BAA33A45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11F517-E3A1-4AA1-AC48-A3513981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95059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Perjelas masalah, komponen sistem, alur kerja, manfaat, dan risiko.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0EFAB-D134-480B-B247-A0175956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5BE3A2-8C3B-4B33-98A8-F8F95842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57600"/>
            <a:ext cx="95059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Pilih satu produk nyata sebagai referensi dan jelaskan apa yang bisa ditiru.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1D4630-506E-4DDD-A908-83BB6476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B264B-2EFB-48A5-AD27-C4359D293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52900"/>
            <a:ext cx="95059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Sertakan tiga prinsip etika yang harus dijaga jika sistem ini benar-benar dipakai.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D93C7-FD53-4403-B736-EC9B4A93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10287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33FF9E-1445-49D1-9E67-698096B2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911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Kirim ke ataka.ahmad@gmail.com</a:t>
            </a:r>
          </a:p>
          <a:p xmlns:a="http://schemas.openxmlformats.org/drawingml/2006/main">
            <a:pPr algn="ctr">
              <a:defRPr sz="1500" b="1">
                <a:solidFill>
                  <a:srgbClr val="16324F"/>
                </a:solidFill>
              </a:defRPr>
            </a:pPr>
            <a:r>
              <a:rPr sz="1500" b="1">
                <a:solidFill>
                  <a:srgbClr val="16324F"/>
                </a:solidFill>
              </a:rPr>
              <a:t>Subject: SMA Teladan XI - Tugas Smart Home - [Nama Kelompok]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3EA9E7-5055-4AD4-8F9D-3FE21FAD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C79096-467B-45E8-B3F9-D03D5329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DECCE4-0BE7-484E-B0D8-8C105A1A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283375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2026-08-13T02:44:57.1860000Z</dcterms:created>
  <dcterms:modified xsi:type="dcterms:W3CDTF">2026-08-13T02:44:57.1860000Z</dcterms:modified>
</coreProperties>
</file>