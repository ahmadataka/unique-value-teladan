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aa150316ec44cd" /><Relationship Type="http://schemas.openxmlformats.org/officeDocument/2006/relationships/extended-properties" Target="/docProps/app.xml" Id="Ra87392dda6754e8d" /><Relationship Type="http://schemas.openxmlformats.org/officeDocument/2006/relationships/officeDocument" Target="/ppt/presentation.xml" Id="Re1150da2d35644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d00b1d7ecf42c9"/>
  </p:sldMasterIdLst>
  <p:notesMasterIdLst>
    <p:notesMasterId xmlns:r="http://schemas.openxmlformats.org/officeDocument/2006/relationships" r:id="R655d9c84990f45ef"/>
  </p:notesMasterIdLst>
  <p:sldIdLst>
    <p:sldId xmlns:r="http://schemas.openxmlformats.org/officeDocument/2006/relationships" id="256" r:id="Ra3084e4b69514352"/>
    <p:sldId xmlns:r="http://schemas.openxmlformats.org/officeDocument/2006/relationships" id="257" r:id="Rb7d8729623324119"/>
    <p:sldId xmlns:r="http://schemas.openxmlformats.org/officeDocument/2006/relationships" id="258" r:id="R51d8b2d96ef147c2"/>
    <p:sldId xmlns:r="http://schemas.openxmlformats.org/officeDocument/2006/relationships" id="259" r:id="R46f7936ecfa14020"/>
    <p:sldId xmlns:r="http://schemas.openxmlformats.org/officeDocument/2006/relationships" id="260" r:id="R61a6ad30915c4a06"/>
    <p:sldId xmlns:r="http://schemas.openxmlformats.org/officeDocument/2006/relationships" id="261" r:id="Rf9f053ab76bd4333"/>
    <p:sldId xmlns:r="http://schemas.openxmlformats.org/officeDocument/2006/relationships" id="262" r:id="Rf6d68ef9906e48b5"/>
    <p:sldId xmlns:r="http://schemas.openxmlformats.org/officeDocument/2006/relationships" id="263" r:id="R99e88fcdb4414d84"/>
    <p:sldId xmlns:r="http://schemas.openxmlformats.org/officeDocument/2006/relationships" id="264" r:id="Ra3d98ff6bf9f4c50"/>
    <p:sldId xmlns:r="http://schemas.openxmlformats.org/officeDocument/2006/relationships" id="265" r:id="R158fb5b43d1a48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1134f7fbc04dd0" /><Relationship Type="http://schemas.openxmlformats.org/officeDocument/2006/relationships/slideMaster" Target="/ppt/slideMasters/slideMaster1.xml" Id="Rd1d00b1d7ecf42c9" /><Relationship Type="http://schemas.openxmlformats.org/officeDocument/2006/relationships/notesMaster" Target="/ppt/notesMasters/notesMaster1.xml" Id="R655d9c84990f45ef" /><Relationship Type="http://schemas.openxmlformats.org/officeDocument/2006/relationships/presProps" Target="/ppt/presProps.xml" Id="Rcdbc72933f8a4a54" /><Relationship Type="http://schemas.openxmlformats.org/officeDocument/2006/relationships/tableStyles" Target="/ppt/tableStyles.xml" Id="R46b945fd698d4474" /><Relationship Type="http://schemas.openxmlformats.org/officeDocument/2006/relationships/slide" Target="/ppt/slides/slide1.xml" Id="Ra3084e4b69514352" /><Relationship Type="http://schemas.openxmlformats.org/officeDocument/2006/relationships/slide" Target="/ppt/slides/slide2.xml" Id="Rb7d8729623324119" /><Relationship Type="http://schemas.openxmlformats.org/officeDocument/2006/relationships/slide" Target="/ppt/slides/slide3.xml" Id="R51d8b2d96ef147c2" /><Relationship Type="http://schemas.openxmlformats.org/officeDocument/2006/relationships/slide" Target="/ppt/slides/slide4.xml" Id="R46f7936ecfa14020" /><Relationship Type="http://schemas.openxmlformats.org/officeDocument/2006/relationships/slide" Target="/ppt/slides/slide5.xml" Id="R61a6ad30915c4a06" /><Relationship Type="http://schemas.openxmlformats.org/officeDocument/2006/relationships/slide" Target="/ppt/slides/slide6.xml" Id="Rf9f053ab76bd4333" /><Relationship Type="http://schemas.openxmlformats.org/officeDocument/2006/relationships/slide" Target="/ppt/slides/slide7.xml" Id="Rf6d68ef9906e48b5" /><Relationship Type="http://schemas.openxmlformats.org/officeDocument/2006/relationships/slide" Target="/ppt/slides/slide8.xml" Id="R99e88fcdb4414d84" /><Relationship Type="http://schemas.openxmlformats.org/officeDocument/2006/relationships/slide" Target="/ppt/slides/slide9.xml" Id="Ra3d98ff6bf9f4c50" /><Relationship Type="http://schemas.openxmlformats.org/officeDocument/2006/relationships/slide" Target="/ppt/slides/slide10.xml" Id="R158fb5b43d1a48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bb359226a442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a2aa858ba946d3" /><Relationship Type="http://schemas.openxmlformats.org/officeDocument/2006/relationships/notesMaster" Target="/ppt/notesMasters/notesMaster1.xml" Id="R9857883b4b894e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0b9025fa2b4aa9" /><Relationship Type="http://schemas.openxmlformats.org/officeDocument/2006/relationships/notesMaster" Target="/ppt/notesMasters/notesMaster1.xml" Id="R32d34a5edd634b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ea89a8eb3f40d0" /><Relationship Type="http://schemas.openxmlformats.org/officeDocument/2006/relationships/notesMaster" Target="/ppt/notesMasters/notesMaster1.xml" Id="R5953acf15e1c41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e33ea6e8e34dc3" /><Relationship Type="http://schemas.openxmlformats.org/officeDocument/2006/relationships/notesMaster" Target="/ppt/notesMasters/notesMaster1.xml" Id="R5fd3398d45af49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8929e707dc4cae" /><Relationship Type="http://schemas.openxmlformats.org/officeDocument/2006/relationships/notesMaster" Target="/ppt/notesMasters/notesMaster1.xml" Id="R7e3e2b740cfc43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ca8ade5da24a7a" /><Relationship Type="http://schemas.openxmlformats.org/officeDocument/2006/relationships/notesMaster" Target="/ppt/notesMasters/notesMaster1.xml" Id="R955b90b4f36942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0de5bc69744287" /><Relationship Type="http://schemas.openxmlformats.org/officeDocument/2006/relationships/notesMaster" Target="/ppt/notesMasters/notesMaster1.xml" Id="R0ee369fcce1d4c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f9504716ca4512" /><Relationship Type="http://schemas.openxmlformats.org/officeDocument/2006/relationships/notesMaster" Target="/ppt/notesMasters/notesMaster1.xml" Id="R3f7974cd558046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8c0a8224c84104" /><Relationship Type="http://schemas.openxmlformats.org/officeDocument/2006/relationships/notesMaster" Target="/ppt/notesMasters/notesMaster1.xml" Id="Rc459e17e0c6146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e5165cb7b34c26" /><Relationship Type="http://schemas.openxmlformats.org/officeDocument/2006/relationships/notesMaster" Target="/ppt/notesMasters/notesMaster1.xml" Id="Re5dcebef8e7a45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Assemblr EDU: https://about.edu.assemblrworld.com/id</a:t>
            </a:r>
          </a:p>
          <a:p xmlns:a="http://schemas.openxmlformats.org/drawingml/2006/main">
            <a:r>
              <a:t>Assemblr EDU case study: https://www.assemblrworld.com/id/case-study/assemblr-edu</a:t>
            </a:r>
          </a:p>
          <a:p xmlns:a="http://schemas.openxmlformats.org/drawingml/2006/main">
            <a:r>
              <a:t>Image source: https://www.assemblrworld.com/id/blog/edu-kits-are-here-transforming-digital-teaching-aids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Merge Cube info: https://support.mergeedu.com/hc/en-us/articles/360052933552-Get-a-Merge-Cube</a:t>
            </a:r>
          </a:p>
          <a:p xmlns:a="http://schemas.openxmlformats.org/drawingml/2006/main">
            <a:r>
              <a:t>Merge Cube page: https://mergeedu.com/cube/it?lang=it</a:t>
            </a:r>
          </a:p>
          <a:p xmlns:a="http://schemas.openxmlformats.org/drawingml/2006/main">
            <a:r>
              <a:t>Image source: https://www.ubuy.com.om/ar/product/2IEH9BU-merge-cube-hold-anything-science-and-stem-educational-tool-hands-on-digital-teaching-aids-science-simulations-and-stem-projects-home-school-remote-and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ClassVR: https://www.classvr.com/us/</a:t>
            </a:r>
          </a:p>
          <a:p xmlns:a="http://schemas.openxmlformats.org/drawingml/2006/main">
            <a:r>
              <a:t>ClassVR headset page: https://www.classvr.com/us/virtual-reality-headsets/</a:t>
            </a:r>
          </a:p>
          <a:p xmlns:a="http://schemas.openxmlformats.org/drawingml/2006/main">
            <a:r>
              <a:t>Image source: https://www.cdw.com/product/avantis-classvr-add-on-headset-8-pack/7083391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Arts &amp; Culture virtual tours: https://artsandculture.google.com/project/virtual-tours</a:t>
            </a:r>
          </a:p>
          <a:p xmlns:a="http://schemas.openxmlformats.org/drawingml/2006/main">
            <a:r>
              <a:t>Google Arts &amp; Culture story: https://artsandculture.google.com/story/LwVhZHf_Y7FfLg</a:t>
            </a:r>
          </a:p>
          <a:p xmlns:a="http://schemas.openxmlformats.org/drawingml/2006/main">
            <a:r>
              <a:t>Image source: https://windowsight.com/art-is-going-digital-in-2020/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bf2e2144ee4f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7531382d9f42d7" /><Relationship Type="http://schemas.openxmlformats.org/officeDocument/2006/relationships/slideLayout" Target="/ppt/slideLayouts/slideLayout1.xml" Id="R385fc58f4f2741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5fc58f4f2741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51c268cd94a92" /><Relationship Type="http://schemas.openxmlformats.org/officeDocument/2006/relationships/image" Target="/ppt/media/image.png" Id="R441e376ec956495a" /><Relationship Type="http://schemas.openxmlformats.org/officeDocument/2006/relationships/notesSlide" Target="/ppt/notesSlides/notesSlide1.xml" Id="R9366ac3731af4e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6d18aed474fc5" /><Relationship Type="http://schemas.openxmlformats.org/officeDocument/2006/relationships/image" Target="/ppt/media/image2.png" Id="R43b06135da294e69" /><Relationship Type="http://schemas.openxmlformats.org/officeDocument/2006/relationships/notesSlide" Target="/ppt/notesSlides/notesSlide2.xml" Id="Rfd90c7be0cba46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ed49c7d6247da" /><Relationship Type="http://schemas.openxmlformats.org/officeDocument/2006/relationships/image" Target="/ppt/media/image3.png" Id="R4f49ae9101034728" /><Relationship Type="http://schemas.openxmlformats.org/officeDocument/2006/relationships/notesSlide" Target="/ppt/notesSlides/notesSlide3.xml" Id="Raa2ae3a28eeb4d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5b9eac6db4190" /><Relationship Type="http://schemas.openxmlformats.org/officeDocument/2006/relationships/image" Target="/ppt/media/image4.png" Id="R9fc33c16dafb4dd1" /><Relationship Type="http://schemas.openxmlformats.org/officeDocument/2006/relationships/notesSlide" Target="/ppt/notesSlides/notesSlide4.xml" Id="R43f9110c890947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cbefb323c485d" /><Relationship Type="http://schemas.openxmlformats.org/officeDocument/2006/relationships/image" Target="/ppt/media/image5.png" Id="Rf6a2e6ddddf74f89" /><Relationship Type="http://schemas.openxmlformats.org/officeDocument/2006/relationships/image" Target="/ppt/media/image6.png" Id="Ra9fae54a863f4aa2" /><Relationship Type="http://schemas.openxmlformats.org/officeDocument/2006/relationships/hyperlink" Target="https://about.edu.assemblrworld.com/id" TargetMode="External" Id="R4331295cd7eb499a" /><Relationship Type="http://schemas.openxmlformats.org/officeDocument/2006/relationships/hyperlink" Target="https://www.assemblrworld.com/es/case-study/assemblr-edu" TargetMode="External" Id="Rd93fe924b1ae4117" /><Relationship Type="http://schemas.openxmlformats.org/officeDocument/2006/relationships/notesSlide" Target="/ppt/notesSlides/notesSlide5.xml" Id="Rfb23aa2334d845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88ce2f7e64ae0" /><Relationship Type="http://schemas.openxmlformats.org/officeDocument/2006/relationships/image" Target="/ppt/media/image7.png" Id="R63aca3b1f5c74f7d" /><Relationship Type="http://schemas.openxmlformats.org/officeDocument/2006/relationships/image" Target="/ppt/media/image.jpeg" Id="R031f7f9390ae4067" /><Relationship Type="http://schemas.openxmlformats.org/officeDocument/2006/relationships/hyperlink" Target="https://mergeedu.com" TargetMode="External" Id="R0cb85b45b27c40a7" /><Relationship Type="http://schemas.openxmlformats.org/officeDocument/2006/relationships/hyperlink" Target="https://support.mergeedu.com/hc/en-us/articles/360061597232-Getting-Started-Welcome-to-Merge-EDU" TargetMode="External" Id="R283928f39c7a442f" /><Relationship Type="http://schemas.openxmlformats.org/officeDocument/2006/relationships/notesSlide" Target="/ppt/notesSlides/notesSlide6.xml" Id="Rfba1fa9f1d584c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0f5f93cbd45ac" /><Relationship Type="http://schemas.openxmlformats.org/officeDocument/2006/relationships/image" Target="/ppt/media/image8.png" Id="R749b199882114c42" /><Relationship Type="http://schemas.openxmlformats.org/officeDocument/2006/relationships/image" Target="/ppt/media/image2.jpeg" Id="R19fdfe90fd1a46c4" /><Relationship Type="http://schemas.openxmlformats.org/officeDocument/2006/relationships/hyperlink" Target="https://www.classvr.com/us/" TargetMode="External" Id="Rd4bf8563a9cf40a1" /><Relationship Type="http://schemas.openxmlformats.org/officeDocument/2006/relationships/hyperlink" Target="https://www.classvr.com/how-classvr-works/" TargetMode="External" Id="Rdcb822f0ef604075" /><Relationship Type="http://schemas.openxmlformats.org/officeDocument/2006/relationships/notesSlide" Target="/ppt/notesSlides/notesSlide7.xml" Id="Rdd883aca1b7247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5545599d74977" /><Relationship Type="http://schemas.openxmlformats.org/officeDocument/2006/relationships/image" Target="/ppt/media/image9.png" Id="Re6b59e8a68654c2d" /><Relationship Type="http://schemas.openxmlformats.org/officeDocument/2006/relationships/image" Target="/ppt/media/image3.jpeg" Id="Reaf23f18a991443e" /><Relationship Type="http://schemas.openxmlformats.org/officeDocument/2006/relationships/hyperlink" Target="https://artsandculture.google.com/project/pocket-gallery" TargetMode="External" Id="R38266aca785d42d8" /><Relationship Type="http://schemas.openxmlformats.org/officeDocument/2006/relationships/hyperlink" Target="https://artsandculture.google.com/project/pocket-gallery" TargetMode="External" Id="R188772d6458e46b1" /><Relationship Type="http://schemas.openxmlformats.org/officeDocument/2006/relationships/notesSlide" Target="/ppt/notesSlides/notesSlide8.xml" Id="R517a0c6412e64d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7f3a8d94b4f8e" /><Relationship Type="http://schemas.openxmlformats.org/officeDocument/2006/relationships/image" Target="/ppt/media/image10.png" Id="R58deb3a9f23f4400" /><Relationship Type="http://schemas.openxmlformats.org/officeDocument/2006/relationships/notesSlide" Target="/ppt/notesSlides/notesSlide9.xml" Id="R378d82430ddc4c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bb36fc8aa4f32" /><Relationship Type="http://schemas.openxmlformats.org/officeDocument/2006/relationships/image" Target="/ppt/media/image11.png" Id="R73cb0231d1bb4ce3" /><Relationship Type="http://schemas.openxmlformats.org/officeDocument/2006/relationships/notesSlide" Target="/ppt/notesSlides/notesSlide10.xml" Id="Re695ded9191f4f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e376ec956495a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EC7A7-5B18-4264-A5BA-52F4C030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47625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F3CC5-CADC-457C-92B7-2ECE1C8E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085850"/>
            <a:ext cx="5734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D6F04-9337-402A-8F51-ECF45B28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77A"/>
                </a:solidFill>
              </a:defRPr>
            </a:pPr>
            <a:r>
              <a:rPr sz="1800" b="1">
                <a:solidFill>
                  <a:srgbClr val="24577A"/>
                </a:solidFill>
              </a:rPr>
              <a:t>Materi Kelas 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894C5-C1B7-4B35-A7A9-5193D76A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400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</a:defRPr>
            </a:pPr>
            <a:r>
              <a:rPr sz="3300" b="1">
                <a:solidFill>
                  <a:srgbClr val="16324F"/>
                </a:solidFill>
              </a:rPr>
              <a:t>AR dan VR</a:t>
            </a:r>
          </a:p>
          <a:p xmlns:a="http://schemas.openxmlformats.org/drawingml/2006/main">
            <a:pPr algn="l">
              <a:defRPr sz="3300" b="1">
                <a:solidFill>
                  <a:srgbClr val="16324F"/>
                </a:solidFill>
              </a:defRPr>
            </a:pPr>
            <a:r>
              <a:rPr sz="3300" b="1">
                <a:solidFill>
                  <a:srgbClr val="16324F"/>
                </a:solidFill>
              </a:rPr>
              <a:t>untuk Pendidikan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123BD-A5B3-4211-822E-2D7D8FEA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3924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Lanjutan dari AI visual menuju pengalaman belajar yang lebih imersif dan lebih interaktif.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E6815-11CD-459B-9EED-08DAEAF7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4762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Di sesi ini, kita tidak berhenti pada gambar. Kita melihat bagaimana visual bisa hadir di depan siswa dan membantu pemahaman materi secara lebih konkret.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9EBD0-CA72-43E6-B390-C7494427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4000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Fokus deck: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AR vs VR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Use case akademik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Produk nyata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Etika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Tugas lanjutan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48511-A4D5-4B70-9D90-9A85C168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CCED5-5E77-473F-940C-B6AE9EBE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8D182-C1B3-42FB-93CD-46529122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554406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06135da294e69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C9DEB-1201-45D2-A907-5D41B770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7907E-DB56-4C9E-ADD1-C6C52C1C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Dari AI Visual ke Pengalaman Belajar yang Lebih Hidup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DE7C8-0EF5-4BE7-B549-933F6F15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24F"/>
                </a:solidFill>
              </a:defRPr>
            </a:pPr>
            <a:r>
              <a:rPr sz="2100" b="1">
                <a:solidFill>
                  <a:srgbClr val="16324F"/>
                </a:solidFill>
              </a:rPr>
              <a:t>Kalau kemarin kalian membuat dan membaca visual, sekarang pertanyaannya berubah: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26EEC-0889-432C-9F3B-F28BB1A1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10287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D4232-EB76-41FD-9D79-13F6976B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38400"/>
            <a:ext cx="944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324F"/>
                </a:solidFill>
              </a:defRPr>
            </a:pPr>
            <a:r>
              <a:rPr sz="2250" b="1">
                <a:solidFill>
                  <a:srgbClr val="16324F"/>
                </a:solidFill>
              </a:rPr>
              <a:t>Bagaimana kalau visual itu tidak hanya dilihat, tetapi terasa hadir di depan kita?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BB52C-1776-42EE-9582-F585EB48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A4EEF-E434-472F-BDB1-26EA4878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71900"/>
            <a:ext cx="9505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AR dan VR membantu konsep abstrak menjadi lebih dekat dan lebih konkret.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32978-D6B9-4A30-85BD-7AA3F2EC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B6582-6E3C-4F04-9441-7623E500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9505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Teknologi ini bisa dipakai untuk memahami materi, simulasi, dan presentasi ide proyek.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52703-B48B-4CAA-873A-07F82483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05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C8391-EEF8-4969-9469-12BAE7DE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9505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Kuncinya tetap sama: bukan sekadar wow effect, tetapi nilai belajarnya.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51678-3CFA-4F02-8BAF-C4141F0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6FC40-B499-44E1-98E3-789C5621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3477FB-EDC2-43AA-A176-AF30E5A7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7722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9ae9101034728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1023A-1878-404B-B692-7C40AC85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3E1BE-FDE5-42E3-A5A0-EA455BB9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AR Menambah Dunia Nyata, VR Membuat Ruang Baru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9E039-D5DE-46EC-A9DB-227C993B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4572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EEB34-3D41-47F9-8F83-1DB973C0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1450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0455E-6585-4D6E-926A-46CC50FB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14550"/>
            <a:ext cx="42291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Augmented Reality menambahkan objek atau informasi digital ke dunia nyata. Biasanya cukup memakai kamera ponsel atau tablet. Cocok untuk model 3D, poster interaktif, atau presentasi berbasis ruang sekitar.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30E60-B66B-43C2-9BEF-2534E165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543050"/>
            <a:ext cx="5410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5265A-FAAF-4FE4-ACAC-7756DF7F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1450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VR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5B037-4526-4125-A4BA-CF884A86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14550"/>
            <a:ext cx="50673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Virtual Reality membawa pengguna masuk ke lingkungan digital. Pengalaman ini cocok untuk tur virtual, simulasi laboratorium, atau eksplorasi tempat yang sulit dikunjungi langsung.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23FE0-9654-4928-8885-1765992B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Kalimat kunci: AR menempel pada dunia nyata, VR mengajak kita masuk ke dunia virtual.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364BA-FE32-4010-A57A-D0CBF00C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2E233-BC85-43ED-8749-26CE3943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1D9CF-249F-4A61-AFA7-57B49324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006571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c33c16dafb4dd1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B7255-0075-40D9-AE9C-48E32541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F6597-C9F1-4538-853F-2B430240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AR dan VR Berguna Saat Materi Sulit Dibayangkan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7EB26-8E9F-405A-B7F5-1330E083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66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FB1C0-09F0-49B9-99E9-5933943B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00200"/>
            <a:ext cx="96012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Biologi: model organ, sel, atau struktur tubuh menjadi lebih mudah diamati.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0F9F7-7511-45B9-B5B9-10CC2DCE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0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D98DA-7EF8-446D-B9E6-47EF949F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33600"/>
            <a:ext cx="96012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Fisika dan astronomi: simulasi gerak benda, tata surya, atau medan ruang.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BB27D-4889-4B71-B693-AA332F77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33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00B44-67FC-427B-90B1-E0BCCDE1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0"/>
            <a:ext cx="96012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Sejarah dan budaya: tur virtual museum, situs bersejarah, dan artefak.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B1B30-A5F3-4693-B9E8-D09F675C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67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64F1F-FBB8-423E-A884-4EB6D377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96012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Geografi: bentuk permukaan bumi, gunung, kota, atau ruang greenhouse lebih mudah divisualkan.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19B9A-7E69-426E-8A80-C3CCC4A8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00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0C276-2EBC-4152-9C68-DCD729CC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96012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Presentasi proyek: siswa bisa menunjukkan rancangan ide secara lebih jelas kepada teman dan guru.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C6971-4E32-412A-AA8D-62D3FE52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028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7ACE34-2F19-4C69-99D6-823ED258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Teknologi ini paling kuat ketika membantu sesuatu yang abstrak menjadi terasa nyata.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A6EDE-6E84-4628-8139-125691CE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9169E-36E7-4F8F-BCE9-08058251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DC4F81-2780-4B83-930C-8F7337C7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654030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2e6ddddf74f89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4965E-B806-4F53-9605-A43473C2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3E76F-2993-4C65-ACC0-6A772F2E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Produk Nyata: Assemblr EDU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0F8BF-04FE-4C20-B907-702D2E9B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47800"/>
            <a:ext cx="4000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ae54a863f4aa2"/>
          <a:stretch xmlns:a="http://schemas.openxmlformats.org/drawingml/2006/main"/>
        </p:blipFill>
        <p:spPr>
          <a:xfrm xmlns:a="http://schemas.openxmlformats.org/drawingml/2006/main">
            <a:off x="1123950" y="2018824"/>
            <a:ext cx="3581400" cy="192500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B3377-CB20-48EC-B92E-CA03FCF0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76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770"/>
                </a:solidFill>
              </a:defRPr>
            </a:pPr>
            <a:r>
              <a:rPr sz="1200" b="1">
                <a:solidFill>
                  <a:srgbClr val="5B6770"/>
                </a:solidFill>
              </a:rPr>
              <a:t>Tampilan produk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23C2B-35B5-47CE-A3A3-1768C14A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60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24F"/>
                </a:solidFill>
              </a:defRPr>
            </a:pPr>
            <a:r>
              <a:rPr sz="2250" b="1">
                <a:solidFill>
                  <a:srgbClr val="16324F"/>
                </a:solidFill>
              </a:rPr>
              <a:t>Assemblr EDU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F11A2-604E-4B58-A02F-085FE4B9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71700"/>
            <a:ext cx="560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Platform 3D dan AR untuk pendidikan yang membantu guru dan siswa membuat materi lebih interaktif.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925BD-0273-41C6-927A-FFDE6FD6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81350"/>
            <a:ext cx="52578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• Visual ini penting agar siswa melihat bahwa AR pendidikan tidak selalu berupa headset; browser dan gadget biasa juga bisa dipakai.</a:t>
            </a:r>
          </a:p>
          <a:p xmlns:a="http://schemas.openxmlformats.org/drawingml/2006/main">
            <a:pPr algn="l"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• Cocok untuk presentasi proyek, visualisasi konsep abstrak, dan tugas berbasis model 3D.</a:t>
            </a:r>
          </a:p>
          <a:p xmlns:a="http://schemas.openxmlformats.org/drawingml/2006/main">
            <a:pPr algn="l"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• Relevan dengan konteks sekolah karena antarmukanya mirip platform belajar yang sudah akrab untuk siswa.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1C998-CB7D-4BC6-8526-709D3F7C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Link yang bisa dibuka: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261E5-6BAE-4078-BE24-B8D134EC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197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Aft>
                <a:spcPts val="3"/>
              </a:spcAft>
            </a:pPr>
            <a:r>
              <a:rPr sz="1500" b="1">
                <a:solidFill>
                  <a:srgbClr val="16324F"/>
                </a:solidFill>
              </a:rPr>
              <a:t>Produk resmi: </a:t>
            </a:r>
            <a:r>
              <a:rPr sz="1500" u="sng">
                <a:solidFill>
                  <a:srgbClr val="2563EB"/>
                </a:solidFill>
                <a:hlinkClick xmlns:r="http://schemas.openxmlformats.org/officeDocument/2006/relationships" r:id="R4331295cd7eb499a"/>
              </a:rPr>
              <a:t>Assemblr EDU</a:t>
            </a:r>
          </a:p>
          <a:p xmlns:a="http://schemas.openxmlformats.org/drawingml/2006/main">
            <a:pPr>
              <a:spcAft>
                <a:spcPts val="3"/>
              </a:spcAft>
            </a:pPr>
            <a:r>
              <a:rPr sz="1500" b="1">
                <a:solidFill>
                  <a:srgbClr val="16324F"/>
                </a:solidFill>
              </a:rPr>
              <a:t>Video / demo: </a:t>
            </a:r>
            <a:r>
              <a:rPr sz="1500" u="sng">
                <a:solidFill>
                  <a:srgbClr val="2563EB"/>
                </a:solidFill>
                <a:hlinkClick xmlns:r="http://schemas.openxmlformats.org/officeDocument/2006/relationships" r:id="Rd93fe924b1ae4117"/>
              </a:rPr>
              <a:t>Case study Assemblr EDU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52F98-5F32-4EA2-A7C4-3DA49F39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37FB7-001E-415E-871B-F4F1622F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E27110-8C9B-412B-ADC3-3FC24C9F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375958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ca3b1f5c74f7d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C03A5-C5BD-453C-908C-21E8F0B2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03AEF-FB14-4536-8DC1-3108AB6A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Produk Nyata: Merge Cube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7BCE3-B718-4B75-A0D0-34CF92A5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47800"/>
            <a:ext cx="4000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f7f9390ae4067"/>
          <a:stretch xmlns:a="http://schemas.openxmlformats.org/drawingml/2006/main"/>
        </p:blipFill>
        <p:spPr>
          <a:xfrm xmlns:a="http://schemas.openxmlformats.org/drawingml/2006/main">
            <a:off x="1697976" y="1695450"/>
            <a:ext cx="2433349" cy="2571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DD88C-CD91-4488-B889-AB924A43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76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770"/>
                </a:solidFill>
              </a:defRPr>
            </a:pPr>
            <a:r>
              <a:rPr sz="1200" b="1">
                <a:solidFill>
                  <a:srgbClr val="5B6770"/>
                </a:solidFill>
              </a:rPr>
              <a:t>Tampilan produk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4DCA0-99F6-4B19-A8DF-26C9BEB7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60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24F"/>
                </a:solidFill>
              </a:defRPr>
            </a:pPr>
            <a:r>
              <a:rPr sz="2250" b="1">
                <a:solidFill>
                  <a:srgbClr val="16324F"/>
                </a:solidFill>
              </a:rPr>
              <a:t>Merge Cube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255A5-4B92-4DDD-B9AD-ABEA0806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71700"/>
            <a:ext cx="560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Kubus fisik yang dipindai kamera untuk menampilkan objek digital 3D di tangan pengguna.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70437-28FC-4726-BA43-6001E8C8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81350"/>
            <a:ext cx="52578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• Visual produk ini penting karena siswa langsung paham bahwa AR bisa terasa seperti memegang objek belajar.</a:t>
            </a:r>
          </a:p>
          <a:p xmlns:a="http://schemas.openxmlformats.org/drawingml/2006/main">
            <a:pPr algn="l"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• Sangat cocok untuk sains: organ, fosil, molekul, atau tata surya terasa lebih nyata.</a:t>
            </a:r>
          </a:p>
          <a:p xmlns:a="http://schemas.openxmlformats.org/drawingml/2006/main">
            <a:pPr algn="l"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• Bisa jadi inspirasi bagi kelompok untuk membuat pengalaman AR yang sederhana tapi kuat secara edukatif.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10FF7-BD9B-4521-AF0E-B4D1A474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Link yang bisa dibuka: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65707-35A3-4EA4-9812-E93B4885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197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Aft>
                <a:spcPts val="3"/>
              </a:spcAft>
            </a:pPr>
            <a:r>
              <a:rPr sz="1500" b="1">
                <a:solidFill>
                  <a:srgbClr val="16324F"/>
                </a:solidFill>
              </a:rPr>
              <a:t>Produk resmi: </a:t>
            </a:r>
            <a:r>
              <a:rPr sz="1500" u="sng">
                <a:solidFill>
                  <a:srgbClr val="2563EB"/>
                </a:solidFill>
                <a:hlinkClick xmlns:r="http://schemas.openxmlformats.org/officeDocument/2006/relationships" r:id="R0cb85b45b27c40a7"/>
              </a:rPr>
              <a:t>Merge EDU</a:t>
            </a:r>
          </a:p>
          <a:p xmlns:a="http://schemas.openxmlformats.org/drawingml/2006/main">
            <a:pPr>
              <a:spcAft>
                <a:spcPts val="3"/>
              </a:spcAft>
            </a:pPr>
            <a:r>
              <a:rPr sz="1500" b="1">
                <a:solidFill>
                  <a:srgbClr val="16324F"/>
                </a:solidFill>
              </a:rPr>
              <a:t>Video / demo: </a:t>
            </a:r>
            <a:r>
              <a:rPr sz="1500" u="sng">
                <a:solidFill>
                  <a:srgbClr val="2563EB"/>
                </a:solidFill>
                <a:hlinkClick xmlns:r="http://schemas.openxmlformats.org/officeDocument/2006/relationships" r:id="R283928f39c7a442f"/>
              </a:rPr>
              <a:t>Getting started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54903-07CB-4963-B172-30699139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ADAA5-4303-4DA7-AB42-2A1A64DC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233B9-44A9-488F-9AA0-E3B46BC3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677246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b199882114c42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4CD0E-24AA-4C56-BEDB-4A2B92C3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D08B7-685F-481D-A5EF-CFF096BF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Produk Nyata: ClassVR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CE5C0-4E23-4AC4-997D-C381733D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47800"/>
            <a:ext cx="4000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dfe90fd1a46c4"/>
          <a:stretch xmlns:a="http://schemas.openxmlformats.org/drawingml/2006/main"/>
        </p:blipFill>
        <p:spPr>
          <a:xfrm xmlns:a="http://schemas.openxmlformats.org/drawingml/2006/main">
            <a:off x="1123950" y="1974056"/>
            <a:ext cx="3581400" cy="20145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93D82-124D-4696-A2DB-78CC102D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76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770"/>
                </a:solidFill>
              </a:defRPr>
            </a:pPr>
            <a:r>
              <a:rPr sz="1200" b="1">
                <a:solidFill>
                  <a:srgbClr val="5B6770"/>
                </a:solidFill>
              </a:rPr>
              <a:t>Tampilan produk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02AD8-9E89-4113-B804-33012E79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60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24F"/>
                </a:solidFill>
              </a:defRPr>
            </a:pPr>
            <a:r>
              <a:rPr sz="2250" b="1">
                <a:solidFill>
                  <a:srgbClr val="16324F"/>
                </a:solidFill>
              </a:rPr>
              <a:t>ClassVR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CA577-6A07-46D3-83F7-C2F24590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71700"/>
            <a:ext cx="560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Headset VR yang dirancang khusus untuk sekolah, lengkap dengan konten dan kontrol kelas.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9DB1D-FFE6-481A-9FF8-DC789591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81350"/>
            <a:ext cx="52578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• Visual produk ini membantu siswa membayangkan bahwa VR sekolah berbeda dari VR gim biasa.</a:t>
            </a:r>
          </a:p>
          <a:p xmlns:a="http://schemas.openxmlformats.org/drawingml/2006/main">
            <a:pPr algn="l"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• Yang penting bukan hanya headsetnya, tetapi juga portal guru, konten, dan kontrol pemakaian di kelas.</a:t>
            </a:r>
          </a:p>
          <a:p xmlns:a="http://schemas.openxmlformats.org/drawingml/2006/main">
            <a:pPr algn="l"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• Cocok untuk virtual field trip, simulasi sains, dan pengalaman belajar terarah.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BD9236-EF85-4391-A297-0C19B187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Link yang bisa dibuka: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D227C-8188-4AF7-B08A-3D7B0C79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197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Aft>
                <a:spcPts val="3"/>
              </a:spcAft>
            </a:pPr>
            <a:r>
              <a:rPr sz="1500" b="1">
                <a:solidFill>
                  <a:srgbClr val="16324F"/>
                </a:solidFill>
              </a:rPr>
              <a:t>Produk resmi: </a:t>
            </a:r>
            <a:r>
              <a:rPr sz="1500" u="sng">
                <a:solidFill>
                  <a:srgbClr val="2563EB"/>
                </a:solidFill>
                <a:hlinkClick xmlns:r="http://schemas.openxmlformats.org/officeDocument/2006/relationships" r:id="Rd4bf8563a9cf40a1"/>
              </a:rPr>
              <a:t>ClassVR</a:t>
            </a:r>
          </a:p>
          <a:p xmlns:a="http://schemas.openxmlformats.org/drawingml/2006/main">
            <a:pPr>
              <a:spcAft>
                <a:spcPts val="3"/>
              </a:spcAft>
            </a:pPr>
            <a:r>
              <a:rPr sz="1500" b="1">
                <a:solidFill>
                  <a:srgbClr val="16324F"/>
                </a:solidFill>
              </a:rPr>
              <a:t>Cara kerja: </a:t>
            </a:r>
            <a:r>
              <a:rPr sz="1500" u="sng">
                <a:solidFill>
                  <a:srgbClr val="2563EB"/>
                </a:solidFill>
                <a:hlinkClick xmlns:r="http://schemas.openxmlformats.org/officeDocument/2006/relationships" r:id="Rdcb822f0ef604075"/>
              </a:rPr>
              <a:t>How ClassVR Works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AE6DB-7899-4B64-8E66-0AC06F73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F953B-88E1-4DF6-B78E-2694F6BA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A8412-7DC2-4A5A-9C9E-8867858D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70942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59e8a68654c2d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5F6ED-EE3B-4440-96DC-B3EAE2EF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70049-C398-4650-9C90-4F991ED9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Produk Nyata: Google Arts &amp; Culture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CC1B3-1B75-4E47-840C-AFD31AA1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47800"/>
            <a:ext cx="4000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23f18a991443e"/>
          <a:stretch xmlns:a="http://schemas.openxmlformats.org/drawingml/2006/main"/>
        </p:blipFill>
        <p:spPr>
          <a:xfrm xmlns:a="http://schemas.openxmlformats.org/drawingml/2006/main">
            <a:off x="1123950" y="1989433"/>
            <a:ext cx="3581400" cy="198378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AB02F-060F-4A2D-84AE-7BE069F7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76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770"/>
                </a:solidFill>
              </a:defRPr>
            </a:pPr>
            <a:r>
              <a:rPr sz="1200" b="1">
                <a:solidFill>
                  <a:srgbClr val="5B6770"/>
                </a:solidFill>
              </a:rPr>
              <a:t>Tampilan produk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42660-91DF-4531-B1A1-FF3E4E89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60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24F"/>
                </a:solidFill>
              </a:defRPr>
            </a:pPr>
            <a:r>
              <a:rPr sz="2250" b="1">
                <a:solidFill>
                  <a:srgbClr val="16324F"/>
                </a:solidFill>
              </a:rPr>
              <a:t>Google Arts &amp; Culture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37A88-0F7F-426F-A634-26536ABC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71700"/>
            <a:ext cx="560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Platform tur virtual, museum digital, dan pengalaman budaya 360 derajat yang bisa diakses dari perangkat biasa.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D0D70-95F4-4129-BA93-C3BC410B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81350"/>
            <a:ext cx="52578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• Visual ini penting agar siswa melihat bentuk nyata tur virtual, bukan hanya membayangkan dari kata-kata.</a:t>
            </a:r>
          </a:p>
          <a:p xmlns:a="http://schemas.openxmlformats.org/drawingml/2006/main">
            <a:pPr algn="l"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• Sangat kuat untuk sejarah, seni, budaya, dan literasi visual lintas mata pelajaran.</a:t>
            </a:r>
          </a:p>
          <a:p xmlns:a="http://schemas.openxmlformats.org/drawingml/2006/main">
            <a:pPr algn="l"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• Menunjukkan bahwa pengalaman imersif tidak selalu memerlukan headset; ponsel dan browser pun bisa cukup.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D4CDB-BEE4-4FA8-877C-F8D2474F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Link yang bisa dibuka: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0BC68-0F06-461E-AA33-CF214532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197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Aft>
                <a:spcPts val="3"/>
              </a:spcAft>
            </a:pPr>
            <a:r>
              <a:rPr sz="1500" b="1">
                <a:solidFill>
                  <a:srgbClr val="16324F"/>
                </a:solidFill>
              </a:rPr>
              <a:t>Produk resmi: </a:t>
            </a:r>
            <a:r>
              <a:rPr sz="1500" u="sng">
                <a:solidFill>
                  <a:srgbClr val="2563EB"/>
                </a:solidFill>
                <a:hlinkClick xmlns:r="http://schemas.openxmlformats.org/officeDocument/2006/relationships" r:id="R38266aca785d42d8"/>
              </a:rPr>
              <a:t>Pocket Gallery</a:t>
            </a:r>
          </a:p>
          <a:p xmlns:a="http://schemas.openxmlformats.org/drawingml/2006/main">
            <a:pPr>
              <a:spcAft>
                <a:spcPts val="3"/>
              </a:spcAft>
            </a:pPr>
            <a:r>
              <a:rPr sz="1500" b="1">
                <a:solidFill>
                  <a:srgbClr val="16324F"/>
                </a:solidFill>
              </a:rPr>
              <a:t>Video / demo: </a:t>
            </a:r>
            <a:r>
              <a:rPr sz="1500" u="sng">
                <a:solidFill>
                  <a:srgbClr val="2563EB"/>
                </a:solidFill>
                <a:hlinkClick xmlns:r="http://schemas.openxmlformats.org/officeDocument/2006/relationships" r:id="R188772d6458e46b1"/>
              </a:rPr>
              <a:t>Pocket Gallery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C1CF1-579B-4D45-8DCC-8EABBB6E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D084E-38AC-4937-B261-9B0237F6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B4CD2-06C2-4D50-AED7-FF9F7A67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825190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eb3a9f23f4400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4BE61-9F72-4288-8055-E5E0570E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ACE0F-72AA-44FA-B75D-723FAB3F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Teknologi Imersif Tetap Perlu Etika dan Tujuan yang Jelas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AAABD-63CA-4FD5-8C15-EFCEA2D6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85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A1A21-0DA9-449E-9EC0-5BBFE74B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19250"/>
            <a:ext cx="9505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Jangan terjebak pada efek keren jika nilai belajarnya tipis.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18400-B29C-47E3-B9DB-66FA6D14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19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59B49-B5A4-44B9-B674-3A70347E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52650"/>
            <a:ext cx="9505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Hormati privasi saat memakai kamera atau memindai ruang sekitar.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7FEFE-702A-4C8D-982D-D420B08E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6F29B-8015-46FF-BFF4-C7C5BB65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9505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Pastikan konten visual tetap akurat dan tidak menyesatkan.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43E76-BA6C-4008-B3FB-93B33B0E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2A5D1-B47A-4D9B-A8A5-CA939CAF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19450"/>
            <a:ext cx="9505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Perhatikan kenyamanan pengguna; tidak semua orang nyaman memakai sistem imersif lama-lama.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CC567-BE2F-4F6B-BF8C-E748E63A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3DBAF-0C41-4F51-A360-09787F51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52850"/>
            <a:ext cx="9505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Teknologi harus membantu berpikir, bukan membuat siswa pasif menerima pengalaman.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1DAFC-A99C-4CA5-9405-2AC85A00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9DCD0-23DA-48E0-A0AF-AA173978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Pertanyaan kritis: apakah teknologi ini benar-benar membantu belajar, atau hanya terlihat canggih?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2364C3-2CB5-4AB9-9832-CFE7D3D5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41FD77-EE41-48D1-8443-DDB1D06E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31C046-6F83-4EFA-801D-A49BDED3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018418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b0231d1bb4ce3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0D59E-4BC4-4151-8C3B-9FF3AF21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199C9-90F5-46DE-B3AA-82D75E91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Tugas Kelompok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937C1-B539-4DE1-AACD-0D5D21B4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324F"/>
                </a:solidFill>
              </a:defRPr>
            </a:pPr>
            <a:r>
              <a:rPr sz="2100" b="1">
                <a:solidFill>
                  <a:srgbClr val="16324F"/>
                </a:solidFill>
              </a:rPr>
              <a:t>Dari AI Visual ke AR/VR: merancang pembelajaran yang lebih interaktif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409C1-6C58-400E-8040-910DACC0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38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EA5C8-8F9C-453F-A99A-9784798F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95059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Pilih satu topik pelajaran yang cocok dibuat lebih imersif.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0D58A-CE6C-430C-9510-8CAC45E2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33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0A4B3-C0D7-4FC5-98D7-CD81319F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0"/>
            <a:ext cx="95059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Tentukan apakah ide kalian lebih cocok memakai AR atau VR.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D3950-4C05-49C4-AE89-0123F2EA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D9396-6692-402D-B277-B0BD12AA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95059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Sambungkan dengan tugas AI visual sebelumnya: boleh pakai mockup, gambar, atau ide visual lama.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9E7B5-7589-476F-B97D-CBCA3B02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C74B9-A8F2-422E-A2F6-A234FBA0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95059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Jelaskan alur penggunaannya di kelas, manfaat akademik, risiko, dan aturan etikanya.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09D21-1372-4353-A1E3-99AACFC7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D99DCA-88FD-46DB-8D4E-A90DD87D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52900"/>
            <a:ext cx="95059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Pilih satu produk nyata sebagai referensi dan jelaskan apa yang bisa ditiru.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5428F-3FEE-4C3D-81C9-48EEF45D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1028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0BDD7E-B641-422A-AAFC-16F05F75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911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Kirim ke ataka.ahmad@gmail.com</a:t>
            </a:r>
          </a:p>
          <a:p xmlns:a="http://schemas.openxmlformats.org/drawingml/2006/main">
            <a:pPr algn="ctr"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Subject: SMA Teladan X - Tugas AR VR - [Nama Kelompok]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6F3E2F-71FD-4EEF-B374-AFD33023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EE9725-CCCE-4B76-BED2-1F2D2462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B331A4-E446-4103-B375-2C606E5A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081677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2026-08-13T02:44:57.1790000Z</dcterms:created>
  <dcterms:modified xsi:type="dcterms:W3CDTF">2026-08-13T02:44:57.1790000Z</dcterms:modified>
</coreProperties>
</file>